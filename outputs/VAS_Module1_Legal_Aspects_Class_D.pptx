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14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A951"/>
          </a:solidFill>
          <a:ln w="12700">
            <a:solidFill>
              <a:srgbClr val="C8A951"/>
            </a:solidFill>
            <a:prstDash val="solid"/>
          </a:ln>
        </p:spPr>
      </p:sp>
      <p:sp>
        <p:nvSpPr>
          <p:cNvPr id="3" name="Shape 1"/>
          <p:cNvSpPr/>
          <p:nvPr/>
        </p:nvSpPr>
        <p:spPr>
          <a:xfrm>
            <a:off x="7818120" y="0"/>
            <a:ext cx="1325880" cy="91440"/>
          </a:xfrm>
          <a:prstGeom prst="rect">
            <a:avLst/>
          </a:prstGeom>
          <a:solidFill>
            <a:srgbClr val="C8A951"/>
          </a:solidFill>
          <a:ln w="12700">
            <a:solidFill>
              <a:srgbClr val="C8A951"/>
            </a:solidFill>
            <a:prstDash val="solid"/>
          </a:ln>
        </p:spPr>
      </p:sp>
      <p:sp>
        <p:nvSpPr>
          <p:cNvPr id="4" name="Shape 2"/>
          <p:cNvSpPr/>
          <p:nvPr/>
        </p:nvSpPr>
        <p:spPr>
          <a:xfrm>
            <a:off x="411480" y="411480"/>
            <a:ext cx="2697480" cy="402336"/>
          </a:xfrm>
          <a:prstGeom prst="roundRect">
            <a:avLst>
              <a:gd name="adj" fmla="val 11364"/>
            </a:avLst>
          </a:prstGeom>
          <a:solidFill>
            <a:srgbClr val="C8A951"/>
          </a:solidFill>
          <a:ln w="12700">
            <a:solidFill>
              <a:srgbClr val="C8A951"/>
            </a:solidFill>
            <a:prstDash val="solid"/>
          </a:ln>
        </p:spPr>
      </p:sp>
      <p:sp>
        <p:nvSpPr>
          <p:cNvPr id="5" name="Text 3"/>
          <p:cNvSpPr/>
          <p:nvPr/>
        </p:nvSpPr>
        <p:spPr>
          <a:xfrm>
            <a:off x="411480" y="411480"/>
            <a:ext cx="2697480" cy="402336"/>
          </a:xfrm>
          <a:prstGeom prst="rect">
            <a:avLst/>
          </a:prstGeom>
          <a:noFill/>
          <a:ln/>
        </p:spPr>
        <p:txBody>
          <a:bodyPr wrap="square" lIns="0" tIns="0" rIns="0" bIns="0" rtlCol="0" anchor="ctr"/>
          <a:lstStyle/>
          <a:p>
            <a:pPr algn="ctr" indent="0" marL="0">
              <a:buNone/>
            </a:pPr>
            <a:r>
              <a:rPr lang="en-US" sz="1100" b="1" dirty="0">
                <a:solidFill>
                  <a:srgbClr val="002147"/>
                </a:solidFill>
              </a:rPr>
              <a:t>MODULE 1  |  CLASS D TRAINING</a:t>
            </a:r>
            <a:endParaRPr lang="en-US" sz="1100" dirty="0"/>
          </a:p>
        </p:txBody>
      </p:sp>
      <p:sp>
        <p:nvSpPr>
          <p:cNvPr id="6" name="Text 4"/>
          <p:cNvSpPr/>
          <p:nvPr/>
        </p:nvSpPr>
        <p:spPr>
          <a:xfrm>
            <a:off x="3383280" y="457200"/>
            <a:ext cx="5394960" cy="228600"/>
          </a:xfrm>
          <a:prstGeom prst="rect">
            <a:avLst/>
          </a:prstGeom>
          <a:noFill/>
          <a:ln/>
        </p:spPr>
        <p:txBody>
          <a:bodyPr wrap="square" rtlCol="0" anchor="ctr"/>
          <a:lstStyle/>
          <a:p>
            <a:pPr algn="r" indent="0" marL="0">
              <a:buNone/>
            </a:pPr>
            <a:r>
              <a:rPr lang="en-US" sz="1000" b="1" spc="200" kern="0" dirty="0">
                <a:solidFill>
                  <a:srgbClr val="E8CC78"/>
                </a:solidFill>
              </a:rPr>
              <a:t>VAS SECURITY ACADEMY</a:t>
            </a:r>
            <a:endParaRPr lang="en-US" sz="1000" dirty="0"/>
          </a:p>
        </p:txBody>
      </p:sp>
      <p:sp>
        <p:nvSpPr>
          <p:cNvPr id="7" name="Text 5"/>
          <p:cNvSpPr/>
          <p:nvPr/>
        </p:nvSpPr>
        <p:spPr>
          <a:xfrm>
            <a:off x="411480" y="1170432"/>
            <a:ext cx="8046720" cy="173736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Legal Aspects of</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Private Security</a:t>
            </a:r>
            <a:endParaRPr lang="en-US" sz="3000" dirty="0"/>
          </a:p>
        </p:txBody>
      </p:sp>
      <p:sp>
        <p:nvSpPr>
          <p:cNvPr id="8" name="Text 6"/>
          <p:cNvSpPr/>
          <p:nvPr/>
        </p:nvSpPr>
        <p:spPr>
          <a:xfrm>
            <a:off x="411480" y="3200400"/>
            <a:ext cx="8229600" cy="731520"/>
          </a:xfrm>
          <a:prstGeom prst="rect">
            <a:avLst/>
          </a:prstGeom>
          <a:noFill/>
          <a:ln/>
        </p:spPr>
        <p:txBody>
          <a:bodyPr wrap="square" rtlCol="0" anchor="ctr"/>
          <a:lstStyle/>
          <a:p>
            <a:pPr indent="0" marL="0">
              <a:buNone/>
            </a:pPr>
            <a:r>
              <a:rPr lang="en-US" sz="1600" i="1" dirty="0">
                <a:solidFill>
                  <a:srgbClr val="E8CC78"/>
                </a:solidFill>
              </a:rPr>
              <a:t>Module 1  •  6 Hours  •  26 Exam Questions  •  Class D Security Officer Training</a:t>
            </a:r>
            <a:endParaRPr lang="en-US" sz="1600" dirty="0"/>
          </a:p>
        </p:txBody>
      </p:sp>
      <p:sp>
        <p:nvSpPr>
          <p:cNvPr id="9" name="Shape 7"/>
          <p:cNvSpPr/>
          <p:nvPr/>
        </p:nvSpPr>
        <p:spPr>
          <a:xfrm>
            <a:off x="411480" y="4005072"/>
            <a:ext cx="4206240" cy="18288"/>
          </a:xfrm>
          <a:prstGeom prst="rect">
            <a:avLst/>
          </a:prstGeom>
          <a:solidFill>
            <a:srgbClr val="C8A951"/>
          </a:solidFill>
          <a:ln w="12700">
            <a:solidFill>
              <a:srgbClr val="C8A951"/>
            </a:solidFill>
            <a:prstDash val="solid"/>
          </a:ln>
        </p:spPr>
      </p:sp>
      <p:sp>
        <p:nvSpPr>
          <p:cNvPr id="10" name="Text 8"/>
          <p:cNvSpPr/>
          <p:nvPr/>
        </p:nvSpPr>
        <p:spPr>
          <a:xfrm>
            <a:off x="411480" y="4645152"/>
            <a:ext cx="8229600" cy="274320"/>
          </a:xfrm>
          <a:prstGeom prst="rect">
            <a:avLst/>
          </a:prstGeom>
          <a:noFill/>
          <a:ln/>
        </p:spPr>
        <p:txBody>
          <a:bodyPr wrap="square" rtlCol="0" anchor="ctr"/>
          <a:lstStyle/>
          <a:p>
            <a:pPr indent="0" marL="0">
              <a:buNone/>
            </a:pPr>
            <a:r>
              <a:rPr lang="en-US" sz="900" dirty="0">
                <a:solidFill>
                  <a:srgbClr val="6688AA"/>
                </a:solidFill>
              </a:rPr>
              <a:t>Chapter 493, Florida Statutes  |  Rule 5N-1.140, F.A.C.  |  FDACS-P-01878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About This Module</a:t>
            </a:r>
            <a:endParaRPr lang="en-US" sz="2200" dirty="0"/>
          </a:p>
        </p:txBody>
      </p:sp>
      <p:sp>
        <p:nvSpPr>
          <p:cNvPr id="5" name="Shape 3"/>
          <p:cNvSpPr/>
          <p:nvPr/>
        </p:nvSpPr>
        <p:spPr>
          <a:xfrm>
            <a:off x="365760" y="1097280"/>
            <a:ext cx="1883664" cy="1051560"/>
          </a:xfrm>
          <a:prstGeom prst="roundRect">
            <a:avLst>
              <a:gd name="adj" fmla="val 3478"/>
            </a:avLst>
          </a:prstGeom>
          <a:solidFill>
            <a:srgbClr val="002147"/>
          </a:solidFill>
          <a:ln w="12700">
            <a:solidFill>
              <a:srgbClr val="002147"/>
            </a:solidFill>
            <a:prstDash val="solid"/>
          </a:ln>
          <a:effectLst>
            <a:outerShdw sx="100000" sy="100000" kx="0" ky="0" algn="bl" rotWithShape="0" blurRad="50800" dist="25400" dir="8100000">
              <a:srgbClr val="000000">
                <a:alpha val="12000"/>
              </a:srgbClr>
            </a:outerShdw>
          </a:effectLst>
        </p:spPr>
      </p:sp>
      <p:sp>
        <p:nvSpPr>
          <p:cNvPr id="6" name="Text 4"/>
          <p:cNvSpPr/>
          <p:nvPr/>
        </p:nvSpPr>
        <p:spPr>
          <a:xfrm>
            <a:off x="365760" y="1225296"/>
            <a:ext cx="1883664" cy="384048"/>
          </a:xfrm>
          <a:prstGeom prst="rect">
            <a:avLst/>
          </a:prstGeom>
          <a:noFill/>
          <a:ln/>
        </p:spPr>
        <p:txBody>
          <a:bodyPr wrap="square" lIns="0" tIns="0" rIns="0" bIns="0" rtlCol="0" anchor="ctr"/>
          <a:lstStyle/>
          <a:p>
            <a:pPr algn="ctr" indent="0" marL="0">
              <a:buNone/>
            </a:pPr>
            <a:r>
              <a:rPr lang="en-US" sz="2500" b="1" dirty="0">
                <a:solidFill>
                  <a:srgbClr val="FFFFFF"/>
                </a:solidFill>
              </a:rPr>
              <a:t>6</a:t>
            </a:r>
            <a:endParaRPr lang="en-US" sz="2500" dirty="0"/>
          </a:p>
        </p:txBody>
      </p:sp>
      <p:sp>
        <p:nvSpPr>
          <p:cNvPr id="7" name="Text 5"/>
          <p:cNvSpPr/>
          <p:nvPr/>
        </p:nvSpPr>
        <p:spPr>
          <a:xfrm>
            <a:off x="365760" y="1700784"/>
            <a:ext cx="1883664" cy="164592"/>
          </a:xfrm>
          <a:prstGeom prst="rect">
            <a:avLst/>
          </a:prstGeom>
          <a:noFill/>
          <a:ln/>
        </p:spPr>
        <p:txBody>
          <a:bodyPr wrap="square" lIns="0" tIns="0" rIns="0" bIns="0" rtlCol="0" anchor="ctr"/>
          <a:lstStyle/>
          <a:p>
            <a:pPr algn="ctr" indent="0" marL="0">
              <a:buNone/>
            </a:pPr>
            <a:r>
              <a:rPr lang="en-US" sz="1050" dirty="0">
                <a:solidFill>
                  <a:srgbClr val="E8ECF2"/>
                </a:solidFill>
              </a:rPr>
              <a:t>Hours</a:t>
            </a:r>
            <a:endParaRPr lang="en-US" sz="1050" dirty="0"/>
          </a:p>
        </p:txBody>
      </p:sp>
      <p:sp>
        <p:nvSpPr>
          <p:cNvPr id="8" name="Shape 6"/>
          <p:cNvSpPr/>
          <p:nvPr/>
        </p:nvSpPr>
        <p:spPr>
          <a:xfrm>
            <a:off x="2542032" y="1097280"/>
            <a:ext cx="1883664" cy="1051560"/>
          </a:xfrm>
          <a:prstGeom prst="roundRect">
            <a:avLst>
              <a:gd name="adj" fmla="val 3478"/>
            </a:avLst>
          </a:prstGeom>
          <a:solidFill>
            <a:srgbClr val="0055A5"/>
          </a:solidFill>
          <a:ln w="12700">
            <a:solidFill>
              <a:srgbClr val="0055A5"/>
            </a:solidFill>
            <a:prstDash val="solid"/>
          </a:ln>
          <a:effectLst>
            <a:outerShdw sx="100000" sy="100000" kx="0" ky="0" algn="bl" rotWithShape="0" blurRad="50800" dist="25400" dir="8100000">
              <a:srgbClr val="000000">
                <a:alpha val="12000"/>
              </a:srgbClr>
            </a:outerShdw>
          </a:effectLst>
        </p:spPr>
      </p:sp>
      <p:sp>
        <p:nvSpPr>
          <p:cNvPr id="9" name="Text 7"/>
          <p:cNvSpPr/>
          <p:nvPr/>
        </p:nvSpPr>
        <p:spPr>
          <a:xfrm>
            <a:off x="2542032" y="1225296"/>
            <a:ext cx="1883664" cy="384048"/>
          </a:xfrm>
          <a:prstGeom prst="rect">
            <a:avLst/>
          </a:prstGeom>
          <a:noFill/>
          <a:ln/>
        </p:spPr>
        <p:txBody>
          <a:bodyPr wrap="square" lIns="0" tIns="0" rIns="0" bIns="0" rtlCol="0" anchor="ctr"/>
          <a:lstStyle/>
          <a:p>
            <a:pPr algn="ctr" indent="0" marL="0">
              <a:buNone/>
            </a:pPr>
            <a:r>
              <a:rPr lang="en-US" sz="2500" b="1" dirty="0">
                <a:solidFill>
                  <a:srgbClr val="FFFFFF"/>
                </a:solidFill>
              </a:rPr>
              <a:t>26</a:t>
            </a:r>
            <a:endParaRPr lang="en-US" sz="2500" dirty="0"/>
          </a:p>
        </p:txBody>
      </p:sp>
      <p:sp>
        <p:nvSpPr>
          <p:cNvPr id="10" name="Text 8"/>
          <p:cNvSpPr/>
          <p:nvPr/>
        </p:nvSpPr>
        <p:spPr>
          <a:xfrm>
            <a:off x="2542032" y="1700784"/>
            <a:ext cx="1883664" cy="164592"/>
          </a:xfrm>
          <a:prstGeom prst="rect">
            <a:avLst/>
          </a:prstGeom>
          <a:noFill/>
          <a:ln/>
        </p:spPr>
        <p:txBody>
          <a:bodyPr wrap="square" lIns="0" tIns="0" rIns="0" bIns="0" rtlCol="0" anchor="ctr"/>
          <a:lstStyle/>
          <a:p>
            <a:pPr algn="ctr" indent="0" marL="0">
              <a:buNone/>
            </a:pPr>
            <a:r>
              <a:rPr lang="en-US" sz="1050" dirty="0">
                <a:solidFill>
                  <a:srgbClr val="E8ECF2"/>
                </a:solidFill>
              </a:rPr>
              <a:t>Exam Questions</a:t>
            </a:r>
            <a:endParaRPr lang="en-US" sz="1050" dirty="0"/>
          </a:p>
        </p:txBody>
      </p:sp>
      <p:sp>
        <p:nvSpPr>
          <p:cNvPr id="11" name="Shape 9"/>
          <p:cNvSpPr/>
          <p:nvPr/>
        </p:nvSpPr>
        <p:spPr>
          <a:xfrm>
            <a:off x="4718304" y="1097280"/>
            <a:ext cx="1883664" cy="1051560"/>
          </a:xfrm>
          <a:prstGeom prst="roundRect">
            <a:avLst>
              <a:gd name="adj" fmla="val 3478"/>
            </a:avLst>
          </a:prstGeom>
          <a:solidFill>
            <a:srgbClr val="003B7A"/>
          </a:solidFill>
          <a:ln w="12700">
            <a:solidFill>
              <a:srgbClr val="003B7A"/>
            </a:solidFill>
            <a:prstDash val="solid"/>
          </a:ln>
          <a:effectLst>
            <a:outerShdw sx="100000" sy="100000" kx="0" ky="0" algn="bl" rotWithShape="0" blurRad="50800" dist="25400" dir="8100000">
              <a:srgbClr val="000000">
                <a:alpha val="12000"/>
              </a:srgbClr>
            </a:outerShdw>
          </a:effectLst>
        </p:spPr>
      </p:sp>
      <p:sp>
        <p:nvSpPr>
          <p:cNvPr id="12" name="Text 10"/>
          <p:cNvSpPr/>
          <p:nvPr/>
        </p:nvSpPr>
        <p:spPr>
          <a:xfrm>
            <a:off x="4718304" y="1225296"/>
            <a:ext cx="1883664" cy="384048"/>
          </a:xfrm>
          <a:prstGeom prst="rect">
            <a:avLst/>
          </a:prstGeom>
          <a:noFill/>
          <a:ln/>
        </p:spPr>
        <p:txBody>
          <a:bodyPr wrap="square" lIns="0" tIns="0" rIns="0" bIns="0" rtlCol="0" anchor="ctr"/>
          <a:lstStyle/>
          <a:p>
            <a:pPr algn="ctr" indent="0" marL="0">
              <a:buNone/>
            </a:pPr>
            <a:r>
              <a:rPr lang="en-US" sz="2500" b="1" dirty="0">
                <a:solidFill>
                  <a:srgbClr val="FFFFFF"/>
                </a:solidFill>
              </a:rPr>
              <a:t>15.3%</a:t>
            </a:r>
            <a:endParaRPr lang="en-US" sz="2500" dirty="0"/>
          </a:p>
        </p:txBody>
      </p:sp>
      <p:sp>
        <p:nvSpPr>
          <p:cNvPr id="13" name="Text 11"/>
          <p:cNvSpPr/>
          <p:nvPr/>
        </p:nvSpPr>
        <p:spPr>
          <a:xfrm>
            <a:off x="4718304" y="1700784"/>
            <a:ext cx="1883664" cy="164592"/>
          </a:xfrm>
          <a:prstGeom prst="rect">
            <a:avLst/>
          </a:prstGeom>
          <a:noFill/>
          <a:ln/>
        </p:spPr>
        <p:txBody>
          <a:bodyPr wrap="square" lIns="0" tIns="0" rIns="0" bIns="0" rtlCol="0" anchor="ctr"/>
          <a:lstStyle/>
          <a:p>
            <a:pPr algn="ctr" indent="0" marL="0">
              <a:buNone/>
            </a:pPr>
            <a:r>
              <a:rPr lang="en-US" sz="1050" dirty="0">
                <a:solidFill>
                  <a:srgbClr val="E8ECF2"/>
                </a:solidFill>
              </a:rPr>
              <a:t>Exam Weight</a:t>
            </a:r>
            <a:endParaRPr lang="en-US" sz="1050" dirty="0"/>
          </a:p>
        </p:txBody>
      </p:sp>
      <p:sp>
        <p:nvSpPr>
          <p:cNvPr id="14" name="Shape 12"/>
          <p:cNvSpPr/>
          <p:nvPr/>
        </p:nvSpPr>
        <p:spPr>
          <a:xfrm>
            <a:off x="6894576" y="1097280"/>
            <a:ext cx="1883664" cy="1051560"/>
          </a:xfrm>
          <a:prstGeom prst="roundRect">
            <a:avLst>
              <a:gd name="adj" fmla="val 3478"/>
            </a:avLst>
          </a:prstGeom>
          <a:solidFill>
            <a:srgbClr val="B45309"/>
          </a:solidFill>
          <a:ln w="12700">
            <a:solidFill>
              <a:srgbClr val="B45309"/>
            </a:solidFill>
            <a:prstDash val="solid"/>
          </a:ln>
          <a:effectLst>
            <a:outerShdw sx="100000" sy="100000" kx="0" ky="0" algn="bl" rotWithShape="0" blurRad="50800" dist="25400" dir="8100000">
              <a:srgbClr val="000000">
                <a:alpha val="12000"/>
              </a:srgbClr>
            </a:outerShdw>
          </a:effectLst>
        </p:spPr>
      </p:sp>
      <p:sp>
        <p:nvSpPr>
          <p:cNvPr id="15" name="Text 13"/>
          <p:cNvSpPr/>
          <p:nvPr/>
        </p:nvSpPr>
        <p:spPr>
          <a:xfrm>
            <a:off x="6894576" y="1225296"/>
            <a:ext cx="1883664" cy="384048"/>
          </a:xfrm>
          <a:prstGeom prst="rect">
            <a:avLst/>
          </a:prstGeom>
          <a:noFill/>
          <a:ln/>
        </p:spPr>
        <p:txBody>
          <a:bodyPr wrap="square" lIns="0" tIns="0" rIns="0" bIns="0" rtlCol="0" anchor="ctr"/>
          <a:lstStyle/>
          <a:p>
            <a:pPr algn="ctr" indent="0" marL="0">
              <a:buNone/>
            </a:pPr>
            <a:r>
              <a:rPr lang="en-US" sz="2500" b="1" dirty="0">
                <a:solidFill>
                  <a:srgbClr val="FFFFFF"/>
                </a:solidFill>
              </a:rPr>
              <a:t>75%</a:t>
            </a:r>
            <a:endParaRPr lang="en-US" sz="2500" dirty="0"/>
          </a:p>
        </p:txBody>
      </p:sp>
      <p:sp>
        <p:nvSpPr>
          <p:cNvPr id="16" name="Text 14"/>
          <p:cNvSpPr/>
          <p:nvPr/>
        </p:nvSpPr>
        <p:spPr>
          <a:xfrm>
            <a:off x="6894576" y="1700784"/>
            <a:ext cx="1883664" cy="164592"/>
          </a:xfrm>
          <a:prstGeom prst="rect">
            <a:avLst/>
          </a:prstGeom>
          <a:noFill/>
          <a:ln/>
        </p:spPr>
        <p:txBody>
          <a:bodyPr wrap="square" lIns="0" tIns="0" rIns="0" bIns="0" rtlCol="0" anchor="ctr"/>
          <a:lstStyle/>
          <a:p>
            <a:pPr algn="ctr" indent="0" marL="0">
              <a:buNone/>
            </a:pPr>
            <a:r>
              <a:rPr lang="en-US" sz="1050" dirty="0">
                <a:solidFill>
                  <a:srgbClr val="E8ECF2"/>
                </a:solidFill>
              </a:rPr>
              <a:t>Passing Score</a:t>
            </a:r>
            <a:endParaRPr lang="en-US" sz="1050" dirty="0"/>
          </a:p>
        </p:txBody>
      </p:sp>
      <p:sp>
        <p:nvSpPr>
          <p:cNvPr id="17" name="Text 15"/>
          <p:cNvSpPr/>
          <p:nvPr/>
        </p:nvSpPr>
        <p:spPr>
          <a:xfrm>
            <a:off x="411480" y="2487168"/>
            <a:ext cx="1828800" cy="201168"/>
          </a:xfrm>
          <a:prstGeom prst="rect">
            <a:avLst/>
          </a:prstGeom>
          <a:noFill/>
          <a:ln/>
        </p:spPr>
        <p:txBody>
          <a:bodyPr wrap="square" rtlCol="0" anchor="ctr"/>
          <a:lstStyle/>
          <a:p>
            <a:pPr indent="0" marL="0">
              <a:buNone/>
            </a:pPr>
            <a:r>
              <a:rPr lang="en-US" sz="1100" b="1" spc="100" kern="0" dirty="0">
                <a:solidFill>
                  <a:srgbClr val="003B7A"/>
                </a:solidFill>
              </a:rPr>
              <a:t>Sections Covered</a:t>
            </a:r>
            <a:endParaRPr lang="en-US" sz="1100" dirty="0"/>
          </a:p>
        </p:txBody>
      </p:sp>
      <p:sp>
        <p:nvSpPr>
          <p:cNvPr id="18" name="Text 16"/>
          <p:cNvSpPr/>
          <p:nvPr/>
        </p:nvSpPr>
        <p:spPr>
          <a:xfrm>
            <a:off x="411480" y="2788920"/>
            <a:ext cx="8229600" cy="1828800"/>
          </a:xfrm>
          <a:prstGeom prst="rect">
            <a:avLst/>
          </a:prstGeom>
          <a:noFill/>
          <a:ln/>
        </p:spPr>
        <p:txBody>
          <a:bodyPr wrap="square" rtlCol="0" anchor="ctr"/>
          <a:lstStyle/>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Chapter 493, F.S. and Rule 5N-1, F.A.C.</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Liability, detention limits, searches, and seizures</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Use of force under Chapter 776, F.S.</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Incident scene control and evidence preservation</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Court testimony, subpoenas, depositions, and demeanor</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Equal Employment Opportunity and diversity obligations</a:t>
            </a:r>
            <a:endParaRPr lang="en-US" sz="1300" dirty="0"/>
          </a:p>
        </p:txBody>
      </p:sp>
      <p:sp>
        <p:nvSpPr>
          <p:cNvPr id="19" name="Shape 17"/>
          <p:cNvSpPr/>
          <p:nvPr/>
        </p:nvSpPr>
        <p:spPr>
          <a:xfrm>
            <a:off x="0" y="4919472"/>
            <a:ext cx="9144000" cy="224028"/>
          </a:xfrm>
          <a:prstGeom prst="rect">
            <a:avLst/>
          </a:prstGeom>
          <a:solidFill>
            <a:srgbClr val="E8ECF2"/>
          </a:solidFill>
          <a:ln w="12700">
            <a:solidFill>
              <a:srgbClr val="E8ECF2"/>
            </a:solidFill>
            <a:prstDash val="solid"/>
          </a:ln>
        </p:spPr>
      </p:sp>
      <p:sp>
        <p:nvSpPr>
          <p:cNvPr id="20" name="Text 18"/>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Learning Objectives</a:t>
            </a:r>
            <a:endParaRPr lang="en-US" sz="2200" dirty="0"/>
          </a:p>
        </p:txBody>
      </p:sp>
      <p:sp>
        <p:nvSpPr>
          <p:cNvPr id="5" name="Text 3"/>
          <p:cNvSpPr/>
          <p:nvPr/>
        </p:nvSpPr>
        <p:spPr>
          <a:xfrm>
            <a:off x="411480" y="1097280"/>
            <a:ext cx="8275320" cy="3703320"/>
          </a:xfrm>
          <a:prstGeom prst="rect">
            <a:avLst/>
          </a:prstGeom>
          <a:noFill/>
          <a:ln/>
        </p:spPr>
        <p:txBody>
          <a:bodyPr wrap="square" rtlCol="0" anchor="t"/>
          <a:lstStyle/>
          <a:p>
            <a:pPr indent="0" marL="0">
              <a:buNone/>
            </a:pPr>
            <a:r>
              <a:rPr lang="en-US" sz="1500" b="1" dirty="0">
                <a:solidFill>
                  <a:srgbClr val="002147"/>
                </a:solidFill>
                <a:latin typeface="Calibri" pitchFamily="34" charset="0"/>
                <a:ea typeface="Calibri" pitchFamily="34" charset="-122"/>
                <a:cs typeface="Calibri" pitchFamily="34" charset="-120"/>
              </a:rPr>
              <a:t>By the end of this module, students should be able to:</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Explain the licensing framework created by Chapter 493, Florida Statutes.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Identify licensing requirements, renewals, and common disciplinary violations.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Distinguish criminal liability from civil liability in security work.</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Define assault, battery, robbery, trespass, and forcible felony.</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Apply Florida's standards for reasonable and deadly force.</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Secure an incident scene and preserve evidence properly.</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Testify professionally in court, depositions, and administrative hearings.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Understand EEO and diversity responsibilities while on duty.</a:t>
            </a:r>
            <a:endParaRPr lang="en-US" sz="1500" dirty="0"/>
          </a:p>
        </p:txBody>
      </p:sp>
      <p:sp>
        <p:nvSpPr>
          <p:cNvPr id="6" name="Shape 4"/>
          <p:cNvSpPr/>
          <p:nvPr/>
        </p:nvSpPr>
        <p:spPr>
          <a:xfrm>
            <a:off x="0" y="4919472"/>
            <a:ext cx="9144000" cy="224028"/>
          </a:xfrm>
          <a:prstGeom prst="rect">
            <a:avLst/>
          </a:prstGeom>
          <a:solidFill>
            <a:srgbClr val="E8ECF2"/>
          </a:solidFill>
          <a:ln w="12700">
            <a:solidFill>
              <a:srgbClr val="E8ECF2"/>
            </a:solidFill>
            <a:prstDash val="solid"/>
          </a:ln>
        </p:spPr>
      </p:sp>
      <p:sp>
        <p:nvSpPr>
          <p:cNvPr id="7" name="Text 5"/>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B7A"/>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C8A951"/>
          </a:solidFill>
          <a:ln w="12700">
            <a:solidFill>
              <a:srgbClr val="C8A951"/>
            </a:solidFill>
            <a:prstDash val="solid"/>
          </a:ln>
        </p:spPr>
      </p:sp>
      <p:sp>
        <p:nvSpPr>
          <p:cNvPr id="3" name="Shape 1"/>
          <p:cNvSpPr/>
          <p:nvPr/>
        </p:nvSpPr>
        <p:spPr>
          <a:xfrm>
            <a:off x="0" y="5061204"/>
            <a:ext cx="9144000" cy="82296"/>
          </a:xfrm>
          <a:prstGeom prst="rect">
            <a:avLst/>
          </a:prstGeom>
          <a:solidFill>
            <a:srgbClr val="C8A951"/>
          </a:solidFill>
          <a:ln w="12700">
            <a:solidFill>
              <a:srgbClr val="C8A951"/>
            </a:solidFill>
            <a:prstDash val="solid"/>
          </a:ln>
        </p:spPr>
      </p:sp>
      <p:sp>
        <p:nvSpPr>
          <p:cNvPr id="4" name="Shape 2"/>
          <p:cNvSpPr/>
          <p:nvPr/>
        </p:nvSpPr>
        <p:spPr>
          <a:xfrm>
            <a:off x="548640" y="1234440"/>
            <a:ext cx="1188720" cy="1188720"/>
          </a:xfrm>
          <a:prstGeom prst="ellipse">
            <a:avLst/>
          </a:prstGeom>
          <a:solidFill>
            <a:srgbClr val="C8A951"/>
          </a:solidFill>
          <a:ln w="12700">
            <a:solidFill>
              <a:srgbClr val="C8A951"/>
            </a:solidFill>
            <a:prstDash val="solid"/>
          </a:ln>
        </p:spPr>
      </p:sp>
      <p:sp>
        <p:nvSpPr>
          <p:cNvPr id="5" name="Text 3"/>
          <p:cNvSpPr/>
          <p:nvPr/>
        </p:nvSpPr>
        <p:spPr>
          <a:xfrm>
            <a:off x="548640" y="1234440"/>
            <a:ext cx="1188720" cy="1188720"/>
          </a:xfrm>
          <a:prstGeom prst="rect">
            <a:avLst/>
          </a:prstGeom>
          <a:noFill/>
          <a:ln/>
        </p:spPr>
        <p:txBody>
          <a:bodyPr wrap="square" lIns="0" tIns="0" rIns="0" bIns="0" rtlCol="0" anchor="ctr"/>
          <a:lstStyle/>
          <a:p>
            <a:pPr algn="ctr" indent="0" marL="0">
              <a:buNone/>
            </a:pPr>
            <a:r>
              <a:rPr lang="en-US" sz="3400" b="1" dirty="0">
                <a:solidFill>
                  <a:srgbClr val="002147"/>
                </a:solidFill>
              </a:rPr>
              <a:t>1.1</a:t>
            </a:r>
            <a:endParaRPr lang="en-US" sz="3400" dirty="0"/>
          </a:p>
        </p:txBody>
      </p:sp>
      <p:sp>
        <p:nvSpPr>
          <p:cNvPr id="6" name="Text 4"/>
          <p:cNvSpPr/>
          <p:nvPr/>
        </p:nvSpPr>
        <p:spPr>
          <a:xfrm>
            <a:off x="2011680" y="1325880"/>
            <a:ext cx="6400800" cy="219456"/>
          </a:xfrm>
          <a:prstGeom prst="rect">
            <a:avLst/>
          </a:prstGeom>
          <a:noFill/>
          <a:ln/>
        </p:spPr>
        <p:txBody>
          <a:bodyPr wrap="square" rtlCol="0" anchor="ctr"/>
          <a:lstStyle/>
          <a:p>
            <a:pPr indent="0" marL="0">
              <a:buNone/>
            </a:pPr>
            <a:r>
              <a:rPr lang="en-US" sz="1200" b="1" spc="300" kern="0" dirty="0">
                <a:solidFill>
                  <a:srgbClr val="E8CC78"/>
                </a:solidFill>
              </a:rPr>
              <a:t>SECTION</a:t>
            </a:r>
            <a:endParaRPr lang="en-US" sz="1200" dirty="0"/>
          </a:p>
        </p:txBody>
      </p:sp>
      <p:sp>
        <p:nvSpPr>
          <p:cNvPr id="7" name="Text 5"/>
          <p:cNvSpPr/>
          <p:nvPr/>
        </p:nvSpPr>
        <p:spPr>
          <a:xfrm>
            <a:off x="2011680" y="1645920"/>
            <a:ext cx="5029200" cy="10972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Chapter 493, Florida Statutes</a:t>
            </a:r>
            <a:endParaRPr lang="en-US" sz="2800" dirty="0"/>
          </a:p>
          <a:p>
            <a:pPr indent="0" marL="0">
              <a:buNone/>
            </a:pPr>
            <a:r>
              <a:rPr lang="en-US" sz="2800" b="1" dirty="0">
                <a:solidFill>
                  <a:srgbClr val="FFFFFF"/>
                </a:solidFill>
                <a:latin typeface="Georgia" pitchFamily="34" charset="0"/>
                <a:ea typeface="Georgia" pitchFamily="34" charset="-122"/>
                <a:cs typeface="Georgia" pitchFamily="34" charset="-120"/>
              </a:rPr>
              <a:t>&amp; Rule 5N-1, F.A.C.</a:t>
            </a:r>
            <a:endParaRPr lang="en-US" sz="2800" dirty="0"/>
          </a:p>
        </p:txBody>
      </p:sp>
      <p:sp>
        <p:nvSpPr>
          <p:cNvPr id="8" name="Shape 6"/>
          <p:cNvSpPr/>
          <p:nvPr/>
        </p:nvSpPr>
        <p:spPr>
          <a:xfrm>
            <a:off x="2011680" y="2971800"/>
            <a:ext cx="1508760" cy="365760"/>
          </a:xfrm>
          <a:prstGeom prst="roundRect">
            <a:avLst>
              <a:gd name="adj" fmla="val 12500"/>
            </a:avLst>
          </a:prstGeom>
          <a:solidFill>
            <a:srgbClr val="0055A5"/>
          </a:solidFill>
          <a:ln w="12700">
            <a:solidFill>
              <a:srgbClr val="0055A5"/>
            </a:solidFill>
            <a:prstDash val="solid"/>
          </a:ln>
        </p:spPr>
      </p:sp>
      <p:sp>
        <p:nvSpPr>
          <p:cNvPr id="9" name="Text 7"/>
          <p:cNvSpPr/>
          <p:nvPr/>
        </p:nvSpPr>
        <p:spPr>
          <a:xfrm>
            <a:off x="2011680" y="2971800"/>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rPr>
              <a:t>~2.5 hrs</a:t>
            </a:r>
            <a:endParaRPr lang="en-US" sz="1100" dirty="0"/>
          </a:p>
        </p:txBody>
      </p:sp>
      <p:pic>
        <p:nvPicPr>
          <p:cNvPr id="10" name="Image 0" descr="preencoded.png">    </p:cNvPr>
          <p:cNvPicPr>
            <a:picLocks noChangeAspect="1"/>
          </p:cNvPicPr>
          <p:nvPr/>
        </p:nvPicPr>
        <p:blipFill>
          <a:blip r:embed="rId1"/>
          <a:stretch>
            <a:fillRect/>
          </a:stretch>
        </p:blipFill>
        <p:spPr>
          <a:xfrm>
            <a:off x="7223760" y="2560320"/>
            <a:ext cx="1143000" cy="1143000"/>
          </a:xfrm>
          <a:prstGeom prst="rect">
            <a:avLst/>
          </a:prstGeom>
        </p:spPr>
      </p:pic>
      <p:sp>
        <p:nvSpPr>
          <p:cNvPr id="11" name="Text 8"/>
          <p:cNvSpPr/>
          <p:nvPr/>
        </p:nvSpPr>
        <p:spPr>
          <a:xfrm>
            <a:off x="411480" y="4736592"/>
            <a:ext cx="8321040" cy="201168"/>
          </a:xfrm>
          <a:prstGeom prst="rect">
            <a:avLst/>
          </a:prstGeom>
          <a:noFill/>
          <a:ln/>
        </p:spPr>
        <p:txBody>
          <a:bodyPr wrap="square" rtlCol="0" anchor="ctr"/>
          <a:lstStyle/>
          <a:p>
            <a:pPr algn="ctr" indent="0" marL="0">
              <a:buNone/>
            </a:pPr>
            <a:r>
              <a:rPr lang="en-US" sz="850" dirty="0">
                <a:solidFill>
                  <a:srgbClr val="AAB7D0"/>
                </a:solidFill>
              </a:rPr>
              <a:t>Module 1 | Legal Aspects of Private Security | VAS Security Academy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Chapter 493, F.S. — Legislative Intent</a:t>
            </a:r>
            <a:endParaRPr lang="en-US" sz="2200" dirty="0"/>
          </a:p>
        </p:txBody>
      </p:sp>
      <p:sp>
        <p:nvSpPr>
          <p:cNvPr id="5" name="Shape 3"/>
          <p:cNvSpPr/>
          <p:nvPr/>
        </p:nvSpPr>
        <p:spPr>
          <a:xfrm>
            <a:off x="7406640" y="182880"/>
            <a:ext cx="1508760" cy="530352"/>
          </a:xfrm>
          <a:prstGeom prst="roundRect">
            <a:avLst>
              <a:gd name="adj" fmla="val 8621"/>
            </a:avLst>
          </a:prstGeom>
          <a:solidFill>
            <a:srgbClr val="C8A951"/>
          </a:solidFill>
          <a:ln w="12700">
            <a:solidFill>
              <a:srgbClr val="C8A951"/>
            </a:solidFill>
            <a:prstDash val="solid"/>
          </a:ln>
        </p:spPr>
      </p:sp>
      <p:sp>
        <p:nvSpPr>
          <p:cNvPr id="6" name="Text 4"/>
          <p:cNvSpPr/>
          <p:nvPr/>
        </p:nvSpPr>
        <p:spPr>
          <a:xfrm>
            <a:off x="7406640" y="182880"/>
            <a:ext cx="1508760" cy="530352"/>
          </a:xfrm>
          <a:prstGeom prst="rect">
            <a:avLst/>
          </a:prstGeom>
          <a:noFill/>
          <a:ln/>
        </p:spPr>
        <p:txBody>
          <a:bodyPr wrap="square" lIns="0" tIns="0" rIns="0" bIns="0" rtlCol="0" anchor="ctr"/>
          <a:lstStyle/>
          <a:p>
            <a:pPr algn="ctr" indent="0" marL="0">
              <a:buNone/>
            </a:pPr>
            <a:r>
              <a:rPr lang="en-US" sz="1000" b="1" dirty="0">
                <a:solidFill>
                  <a:srgbClr val="002147"/>
                </a:solidFill>
              </a:rPr>
              <a:t>s. 493.6100</a:t>
            </a:r>
            <a:endParaRPr lang="en-US" sz="1000" dirty="0"/>
          </a:p>
        </p:txBody>
      </p:sp>
      <p:sp>
        <p:nvSpPr>
          <p:cNvPr id="7" name="Shape 5"/>
          <p:cNvSpPr/>
          <p:nvPr/>
        </p:nvSpPr>
        <p:spPr>
          <a:xfrm>
            <a:off x="365760" y="1078992"/>
            <a:ext cx="8412480" cy="1353312"/>
          </a:xfrm>
          <a:prstGeom prst="roundRect">
            <a:avLst>
              <a:gd name="adj" fmla="val 2703"/>
            </a:avLst>
          </a:prstGeom>
          <a:solidFill>
            <a:srgbClr val="002147"/>
          </a:solidFill>
          <a:ln w="12700">
            <a:solidFill>
              <a:srgbClr val="002147"/>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365760" y="1078992"/>
            <a:ext cx="73152" cy="1353312"/>
          </a:xfrm>
          <a:prstGeom prst="rect">
            <a:avLst/>
          </a:prstGeom>
          <a:solidFill>
            <a:srgbClr val="C8A951"/>
          </a:solidFill>
          <a:ln w="12700">
            <a:solidFill>
              <a:srgbClr val="C8A951"/>
            </a:solidFill>
            <a:prstDash val="solid"/>
          </a:ln>
        </p:spPr>
      </p:sp>
      <p:sp>
        <p:nvSpPr>
          <p:cNvPr id="9" name="Text 7"/>
          <p:cNvSpPr/>
          <p:nvPr/>
        </p:nvSpPr>
        <p:spPr>
          <a:xfrm>
            <a:off x="594360" y="1234440"/>
            <a:ext cx="7909560" cy="960120"/>
          </a:xfrm>
          <a:prstGeom prst="rect">
            <a:avLst/>
          </a:prstGeom>
          <a:noFill/>
          <a:ln/>
        </p:spPr>
        <p:txBody>
          <a:bodyPr wrap="square" rtlCol="0" anchor="ctr"/>
          <a:lstStyle/>
          <a:p>
            <a:pPr indent="0" marL="0">
              <a:buNone/>
            </a:pPr>
            <a:r>
              <a:rPr lang="en-US" sz="1280" i="1" dirty="0">
                <a:solidFill>
                  <a:srgbClr val="FFFFFF"/>
                </a:solidFill>
                <a:latin typeface="Georgia" pitchFamily="34" charset="0"/>
                <a:ea typeface="Georgia" pitchFamily="34" charset="-122"/>
                <a:cs typeface="Georgia" pitchFamily="34" charset="-120"/>
              </a:rPr>
              <a:t>Chapter 493 establishes the regulatory framework for private investigation and security services in Florida, including licensing, training, conduct, and discipline.</a:t>
            </a:r>
            <a:endParaRPr lang="en-US" sz="1280" dirty="0"/>
          </a:p>
        </p:txBody>
      </p:sp>
      <p:sp>
        <p:nvSpPr>
          <p:cNvPr id="10" name="Text 8"/>
          <p:cNvSpPr/>
          <p:nvPr/>
        </p:nvSpPr>
        <p:spPr>
          <a:xfrm>
            <a:off x="384048" y="2670048"/>
            <a:ext cx="1828800" cy="201168"/>
          </a:xfrm>
          <a:prstGeom prst="rect">
            <a:avLst/>
          </a:prstGeom>
          <a:noFill/>
          <a:ln/>
        </p:spPr>
        <p:txBody>
          <a:bodyPr wrap="square" rtlCol="0" anchor="ctr"/>
          <a:lstStyle/>
          <a:p>
            <a:pPr indent="0" marL="0">
              <a:buNone/>
            </a:pPr>
            <a:r>
              <a:rPr lang="en-US" sz="1100" b="1" spc="200" kern="0" dirty="0">
                <a:solidFill>
                  <a:srgbClr val="003B7A"/>
                </a:solidFill>
              </a:rPr>
              <a:t>KEY POINTS</a:t>
            </a:r>
            <a:endParaRPr lang="en-US" sz="1100" dirty="0"/>
          </a:p>
        </p:txBody>
      </p:sp>
      <p:sp>
        <p:nvSpPr>
          <p:cNvPr id="11" name="Text 9"/>
          <p:cNvSpPr/>
          <p:nvPr/>
        </p:nvSpPr>
        <p:spPr>
          <a:xfrm>
            <a:off x="384048" y="2926080"/>
            <a:ext cx="8321040" cy="1783080"/>
          </a:xfrm>
          <a:prstGeom prst="rect">
            <a:avLst/>
          </a:prstGeom>
          <a:noFill/>
          <a:ln/>
        </p:spPr>
        <p:txBody>
          <a:bodyPr wrap="square" rtlCol="0" anchor="t"/>
          <a:lstStyle/>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FDACS Division of Licensing administers the chapter.</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Anyone performing regulated security services for compensation must hold the proper license.</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The law exists to protect the public through minimum standards and accountability.</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It covers Class D, Class G, Class DI, Class DS, Class B, and related credentials.</a:t>
            </a:r>
            <a:endParaRPr lang="en-US" sz="1300" dirty="0"/>
          </a:p>
        </p:txBody>
      </p:sp>
      <p:sp>
        <p:nvSpPr>
          <p:cNvPr id="12" name="Shape 10"/>
          <p:cNvSpPr/>
          <p:nvPr/>
        </p:nvSpPr>
        <p:spPr>
          <a:xfrm>
            <a:off x="0" y="4919472"/>
            <a:ext cx="9144000" cy="224028"/>
          </a:xfrm>
          <a:prstGeom prst="rect">
            <a:avLst/>
          </a:prstGeom>
          <a:solidFill>
            <a:srgbClr val="E8ECF2"/>
          </a:solidFill>
          <a:ln w="12700">
            <a:solidFill>
              <a:srgbClr val="E8ECF2"/>
            </a:solidFill>
            <a:prstDash val="solid"/>
          </a:ln>
        </p:spPr>
      </p:sp>
      <p:sp>
        <p:nvSpPr>
          <p:cNvPr id="13" name="Text 11"/>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Key Definitions — s. 493.6101, F.S.</a:t>
            </a:r>
            <a:endParaRPr lang="en-US" sz="2200" dirty="0"/>
          </a:p>
        </p:txBody>
      </p:sp>
      <p:sp>
        <p:nvSpPr>
          <p:cNvPr id="5" name="Shape 3"/>
          <p:cNvSpPr/>
          <p:nvPr/>
        </p:nvSpPr>
        <p:spPr>
          <a:xfrm>
            <a:off x="365760" y="1115568"/>
            <a:ext cx="3977640" cy="1051560"/>
          </a:xfrm>
          <a:prstGeom prst="roundRect">
            <a:avLst>
              <a:gd name="adj" fmla="val 4348"/>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6" name="Shape 4"/>
          <p:cNvSpPr/>
          <p:nvPr/>
        </p:nvSpPr>
        <p:spPr>
          <a:xfrm>
            <a:off x="365760" y="1115568"/>
            <a:ext cx="3977640" cy="256032"/>
          </a:xfrm>
          <a:prstGeom prst="rect">
            <a:avLst/>
          </a:prstGeom>
          <a:solidFill>
            <a:srgbClr val="002147"/>
          </a:solidFill>
          <a:ln w="12700">
            <a:solidFill>
              <a:srgbClr val="002147"/>
            </a:solidFill>
            <a:prstDash val="solid"/>
          </a:ln>
        </p:spPr>
      </p:sp>
      <p:sp>
        <p:nvSpPr>
          <p:cNvPr id="7" name="Text 5"/>
          <p:cNvSpPr/>
          <p:nvPr/>
        </p:nvSpPr>
        <p:spPr>
          <a:xfrm>
            <a:off x="475488" y="1152144"/>
            <a:ext cx="3703320" cy="164592"/>
          </a:xfrm>
          <a:prstGeom prst="rect">
            <a:avLst/>
          </a:prstGeom>
          <a:noFill/>
          <a:ln/>
        </p:spPr>
        <p:txBody>
          <a:bodyPr wrap="square" lIns="0" tIns="0" rIns="0" bIns="0" rtlCol="0" anchor="ctr"/>
          <a:lstStyle/>
          <a:p>
            <a:pPr indent="0" marL="0">
              <a:buNone/>
            </a:pPr>
            <a:r>
              <a:rPr lang="en-US" sz="1100" b="1" dirty="0">
                <a:solidFill>
                  <a:srgbClr val="FFFFFF"/>
                </a:solidFill>
              </a:rPr>
              <a:t>Security Officer</a:t>
            </a:r>
            <a:endParaRPr lang="en-US" sz="1100" dirty="0"/>
          </a:p>
        </p:txBody>
      </p:sp>
      <p:sp>
        <p:nvSpPr>
          <p:cNvPr id="8" name="Text 6"/>
          <p:cNvSpPr/>
          <p:nvPr/>
        </p:nvSpPr>
        <p:spPr>
          <a:xfrm>
            <a:off x="475488" y="1481328"/>
            <a:ext cx="3703320" cy="566928"/>
          </a:xfrm>
          <a:prstGeom prst="rect">
            <a:avLst/>
          </a:prstGeom>
          <a:noFill/>
          <a:ln/>
        </p:spPr>
        <p:txBody>
          <a:bodyPr wrap="square" rtlCol="0" anchor="t"/>
          <a:lstStyle/>
          <a:p>
            <a:pPr indent="0" marL="0">
              <a:buNone/>
            </a:pPr>
            <a:r>
              <a:rPr lang="en-US" sz="1150" dirty="0">
                <a:solidFill>
                  <a:srgbClr val="1A202C"/>
                </a:solidFill>
                <a:latin typeface="Calibri" pitchFamily="34" charset="0"/>
                <a:ea typeface="Calibri" pitchFamily="34" charset="-122"/>
                <a:cs typeface="Calibri" pitchFamily="34" charset="-120"/>
              </a:rPr>
              <a:t>An individual employed to perform security services for another, for compensation, on a contractual or assigned basis.</a:t>
            </a:r>
            <a:endParaRPr lang="en-US" sz="1150" dirty="0"/>
          </a:p>
        </p:txBody>
      </p:sp>
      <p:sp>
        <p:nvSpPr>
          <p:cNvPr id="9" name="Shape 7"/>
          <p:cNvSpPr/>
          <p:nvPr/>
        </p:nvSpPr>
        <p:spPr>
          <a:xfrm>
            <a:off x="4709160" y="1115568"/>
            <a:ext cx="3977640" cy="1051560"/>
          </a:xfrm>
          <a:prstGeom prst="roundRect">
            <a:avLst>
              <a:gd name="adj" fmla="val 4348"/>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10" name="Shape 8"/>
          <p:cNvSpPr/>
          <p:nvPr/>
        </p:nvSpPr>
        <p:spPr>
          <a:xfrm>
            <a:off x="4709160" y="1115568"/>
            <a:ext cx="3977640" cy="256032"/>
          </a:xfrm>
          <a:prstGeom prst="rect">
            <a:avLst/>
          </a:prstGeom>
          <a:solidFill>
            <a:srgbClr val="003B7A"/>
          </a:solidFill>
          <a:ln w="12700">
            <a:solidFill>
              <a:srgbClr val="003B7A"/>
            </a:solidFill>
            <a:prstDash val="solid"/>
          </a:ln>
        </p:spPr>
      </p:sp>
      <p:sp>
        <p:nvSpPr>
          <p:cNvPr id="11" name="Text 9"/>
          <p:cNvSpPr/>
          <p:nvPr/>
        </p:nvSpPr>
        <p:spPr>
          <a:xfrm>
            <a:off x="4818888" y="1152144"/>
            <a:ext cx="3703320" cy="164592"/>
          </a:xfrm>
          <a:prstGeom prst="rect">
            <a:avLst/>
          </a:prstGeom>
          <a:noFill/>
          <a:ln/>
        </p:spPr>
        <p:txBody>
          <a:bodyPr wrap="square" lIns="0" tIns="0" rIns="0" bIns="0" rtlCol="0" anchor="ctr"/>
          <a:lstStyle/>
          <a:p>
            <a:pPr indent="0" marL="0">
              <a:buNone/>
            </a:pPr>
            <a:r>
              <a:rPr lang="en-US" sz="1100" b="1" dirty="0">
                <a:solidFill>
                  <a:srgbClr val="FFFFFF"/>
                </a:solidFill>
              </a:rPr>
              <a:t>Private Investigator</a:t>
            </a:r>
            <a:endParaRPr lang="en-US" sz="1100" dirty="0"/>
          </a:p>
        </p:txBody>
      </p:sp>
      <p:sp>
        <p:nvSpPr>
          <p:cNvPr id="12" name="Text 10"/>
          <p:cNvSpPr/>
          <p:nvPr/>
        </p:nvSpPr>
        <p:spPr>
          <a:xfrm>
            <a:off x="4818888" y="1481328"/>
            <a:ext cx="3703320" cy="566928"/>
          </a:xfrm>
          <a:prstGeom prst="rect">
            <a:avLst/>
          </a:prstGeom>
          <a:noFill/>
          <a:ln/>
        </p:spPr>
        <p:txBody>
          <a:bodyPr wrap="square" rtlCol="0" anchor="t"/>
          <a:lstStyle/>
          <a:p>
            <a:pPr indent="0" marL="0">
              <a:buNone/>
            </a:pPr>
            <a:r>
              <a:rPr lang="en-US" sz="1150" dirty="0">
                <a:solidFill>
                  <a:srgbClr val="1A202C"/>
                </a:solidFill>
                <a:latin typeface="Calibri" pitchFamily="34" charset="0"/>
                <a:ea typeface="Calibri" pitchFamily="34" charset="-122"/>
                <a:cs typeface="Calibri" pitchFamily="34" charset="-120"/>
              </a:rPr>
              <a:t>An individual who investigates crimes, persons, or property for a client for compensation.</a:t>
            </a:r>
            <a:endParaRPr lang="en-US" sz="1150" dirty="0"/>
          </a:p>
        </p:txBody>
      </p:sp>
      <p:sp>
        <p:nvSpPr>
          <p:cNvPr id="13" name="Shape 11"/>
          <p:cNvSpPr/>
          <p:nvPr/>
        </p:nvSpPr>
        <p:spPr>
          <a:xfrm>
            <a:off x="365760" y="2331720"/>
            <a:ext cx="3977640" cy="1051560"/>
          </a:xfrm>
          <a:prstGeom prst="roundRect">
            <a:avLst>
              <a:gd name="adj" fmla="val 4348"/>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14" name="Shape 12"/>
          <p:cNvSpPr/>
          <p:nvPr/>
        </p:nvSpPr>
        <p:spPr>
          <a:xfrm>
            <a:off x="365760" y="2331720"/>
            <a:ext cx="3977640" cy="256032"/>
          </a:xfrm>
          <a:prstGeom prst="rect">
            <a:avLst/>
          </a:prstGeom>
          <a:solidFill>
            <a:srgbClr val="0055A5"/>
          </a:solidFill>
          <a:ln w="12700">
            <a:solidFill>
              <a:srgbClr val="0055A5"/>
            </a:solidFill>
            <a:prstDash val="solid"/>
          </a:ln>
        </p:spPr>
      </p:sp>
      <p:sp>
        <p:nvSpPr>
          <p:cNvPr id="15" name="Text 13"/>
          <p:cNvSpPr/>
          <p:nvPr/>
        </p:nvSpPr>
        <p:spPr>
          <a:xfrm>
            <a:off x="475488" y="2368296"/>
            <a:ext cx="3703320" cy="164592"/>
          </a:xfrm>
          <a:prstGeom prst="rect">
            <a:avLst/>
          </a:prstGeom>
          <a:noFill/>
          <a:ln/>
        </p:spPr>
        <p:txBody>
          <a:bodyPr wrap="square" lIns="0" tIns="0" rIns="0" bIns="0" rtlCol="0" anchor="ctr"/>
          <a:lstStyle/>
          <a:p>
            <a:pPr indent="0" marL="0">
              <a:buNone/>
            </a:pPr>
            <a:r>
              <a:rPr lang="en-US" sz="1100" b="1" dirty="0">
                <a:solidFill>
                  <a:srgbClr val="FFFFFF"/>
                </a:solidFill>
              </a:rPr>
              <a:t>Licensee</a:t>
            </a:r>
            <a:endParaRPr lang="en-US" sz="1100" dirty="0"/>
          </a:p>
        </p:txBody>
      </p:sp>
      <p:sp>
        <p:nvSpPr>
          <p:cNvPr id="16" name="Text 14"/>
          <p:cNvSpPr/>
          <p:nvPr/>
        </p:nvSpPr>
        <p:spPr>
          <a:xfrm>
            <a:off x="475488" y="2697480"/>
            <a:ext cx="3703320" cy="566928"/>
          </a:xfrm>
          <a:prstGeom prst="rect">
            <a:avLst/>
          </a:prstGeom>
          <a:noFill/>
          <a:ln/>
        </p:spPr>
        <p:txBody>
          <a:bodyPr wrap="square" rtlCol="0" anchor="t"/>
          <a:lstStyle/>
          <a:p>
            <a:pPr indent="0" marL="0">
              <a:buNone/>
            </a:pPr>
            <a:r>
              <a:rPr lang="en-US" sz="1150" dirty="0">
                <a:solidFill>
                  <a:srgbClr val="1A202C"/>
                </a:solidFill>
                <a:latin typeface="Calibri" pitchFamily="34" charset="0"/>
                <a:ea typeface="Calibri" pitchFamily="34" charset="-122"/>
                <a:cs typeface="Calibri" pitchFamily="34" charset="-120"/>
              </a:rPr>
              <a:t>Any person who holds a current, valid license issued under Chapter 493.</a:t>
            </a:r>
            <a:endParaRPr lang="en-US" sz="1150" dirty="0"/>
          </a:p>
        </p:txBody>
      </p:sp>
      <p:sp>
        <p:nvSpPr>
          <p:cNvPr id="17" name="Shape 15"/>
          <p:cNvSpPr/>
          <p:nvPr/>
        </p:nvSpPr>
        <p:spPr>
          <a:xfrm>
            <a:off x="4709160" y="2331720"/>
            <a:ext cx="3977640" cy="1051560"/>
          </a:xfrm>
          <a:prstGeom prst="roundRect">
            <a:avLst>
              <a:gd name="adj" fmla="val 4348"/>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18" name="Shape 16"/>
          <p:cNvSpPr/>
          <p:nvPr/>
        </p:nvSpPr>
        <p:spPr>
          <a:xfrm>
            <a:off x="4709160" y="2331720"/>
            <a:ext cx="3977640" cy="256032"/>
          </a:xfrm>
          <a:prstGeom prst="rect">
            <a:avLst/>
          </a:prstGeom>
          <a:solidFill>
            <a:srgbClr val="4A5568"/>
          </a:solidFill>
          <a:ln w="12700">
            <a:solidFill>
              <a:srgbClr val="4A5568"/>
            </a:solidFill>
            <a:prstDash val="solid"/>
          </a:ln>
        </p:spPr>
      </p:sp>
      <p:sp>
        <p:nvSpPr>
          <p:cNvPr id="19" name="Text 17"/>
          <p:cNvSpPr/>
          <p:nvPr/>
        </p:nvSpPr>
        <p:spPr>
          <a:xfrm>
            <a:off x="4818888" y="2368296"/>
            <a:ext cx="3703320" cy="164592"/>
          </a:xfrm>
          <a:prstGeom prst="rect">
            <a:avLst/>
          </a:prstGeom>
          <a:noFill/>
          <a:ln/>
        </p:spPr>
        <p:txBody>
          <a:bodyPr wrap="square" lIns="0" tIns="0" rIns="0" bIns="0" rtlCol="0" anchor="ctr"/>
          <a:lstStyle/>
          <a:p>
            <a:pPr indent="0" marL="0">
              <a:buNone/>
            </a:pPr>
            <a:r>
              <a:rPr lang="en-US" sz="1100" b="1" dirty="0">
                <a:solidFill>
                  <a:srgbClr val="FFFFFF"/>
                </a:solidFill>
              </a:rPr>
              <a:t>Agency</a:t>
            </a:r>
            <a:endParaRPr lang="en-US" sz="1100" dirty="0"/>
          </a:p>
        </p:txBody>
      </p:sp>
      <p:sp>
        <p:nvSpPr>
          <p:cNvPr id="20" name="Text 18"/>
          <p:cNvSpPr/>
          <p:nvPr/>
        </p:nvSpPr>
        <p:spPr>
          <a:xfrm>
            <a:off x="4818888" y="2697480"/>
            <a:ext cx="3703320" cy="566928"/>
          </a:xfrm>
          <a:prstGeom prst="rect">
            <a:avLst/>
          </a:prstGeom>
          <a:noFill/>
          <a:ln/>
        </p:spPr>
        <p:txBody>
          <a:bodyPr wrap="square" rtlCol="0" anchor="t"/>
          <a:lstStyle/>
          <a:p>
            <a:pPr indent="0" marL="0">
              <a:buNone/>
            </a:pPr>
            <a:r>
              <a:rPr lang="en-US" sz="1150" dirty="0">
                <a:solidFill>
                  <a:srgbClr val="1A202C"/>
                </a:solidFill>
                <a:latin typeface="Calibri" pitchFamily="34" charset="0"/>
                <a:ea typeface="Calibri" pitchFamily="34" charset="-122"/>
                <a:cs typeface="Calibri" pitchFamily="34" charset="-120"/>
              </a:rPr>
              <a:t>A business entity that employs or contracts licensed security officers or investigators.</a:t>
            </a:r>
            <a:endParaRPr lang="en-US" sz="1150" dirty="0"/>
          </a:p>
        </p:txBody>
      </p:sp>
      <p:sp>
        <p:nvSpPr>
          <p:cNvPr id="21" name="Shape 19"/>
          <p:cNvSpPr/>
          <p:nvPr/>
        </p:nvSpPr>
        <p:spPr>
          <a:xfrm>
            <a:off x="365760" y="3547872"/>
            <a:ext cx="3977640" cy="1051560"/>
          </a:xfrm>
          <a:prstGeom prst="roundRect">
            <a:avLst>
              <a:gd name="adj" fmla="val 4348"/>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22" name="Shape 20"/>
          <p:cNvSpPr/>
          <p:nvPr/>
        </p:nvSpPr>
        <p:spPr>
          <a:xfrm>
            <a:off x="365760" y="3547872"/>
            <a:ext cx="3977640" cy="256032"/>
          </a:xfrm>
          <a:prstGeom prst="rect">
            <a:avLst/>
          </a:prstGeom>
          <a:solidFill>
            <a:srgbClr val="B45309"/>
          </a:solidFill>
          <a:ln w="12700">
            <a:solidFill>
              <a:srgbClr val="B45309"/>
            </a:solidFill>
            <a:prstDash val="solid"/>
          </a:ln>
        </p:spPr>
      </p:sp>
      <p:sp>
        <p:nvSpPr>
          <p:cNvPr id="23" name="Text 21"/>
          <p:cNvSpPr/>
          <p:nvPr/>
        </p:nvSpPr>
        <p:spPr>
          <a:xfrm>
            <a:off x="475488" y="3584448"/>
            <a:ext cx="3703320" cy="164592"/>
          </a:xfrm>
          <a:prstGeom prst="rect">
            <a:avLst/>
          </a:prstGeom>
          <a:noFill/>
          <a:ln/>
        </p:spPr>
        <p:txBody>
          <a:bodyPr wrap="square" lIns="0" tIns="0" rIns="0" bIns="0" rtlCol="0" anchor="ctr"/>
          <a:lstStyle/>
          <a:p>
            <a:pPr indent="0" marL="0">
              <a:buNone/>
            </a:pPr>
            <a:r>
              <a:rPr lang="en-US" sz="1100" b="1" dirty="0">
                <a:solidFill>
                  <a:srgbClr val="FFFFFF"/>
                </a:solidFill>
              </a:rPr>
              <a:t>Contract Security</a:t>
            </a:r>
            <a:endParaRPr lang="en-US" sz="1100" dirty="0"/>
          </a:p>
        </p:txBody>
      </p:sp>
      <p:sp>
        <p:nvSpPr>
          <p:cNvPr id="24" name="Text 22"/>
          <p:cNvSpPr/>
          <p:nvPr/>
        </p:nvSpPr>
        <p:spPr>
          <a:xfrm>
            <a:off x="475488" y="3913632"/>
            <a:ext cx="3703320" cy="566928"/>
          </a:xfrm>
          <a:prstGeom prst="rect">
            <a:avLst/>
          </a:prstGeom>
          <a:noFill/>
          <a:ln/>
        </p:spPr>
        <p:txBody>
          <a:bodyPr wrap="square" rtlCol="0" anchor="t"/>
          <a:lstStyle/>
          <a:p>
            <a:pPr indent="0" marL="0">
              <a:buNone/>
            </a:pPr>
            <a:r>
              <a:rPr lang="en-US" sz="1150" dirty="0">
                <a:solidFill>
                  <a:srgbClr val="1A202C"/>
                </a:solidFill>
                <a:latin typeface="Calibri" pitchFamily="34" charset="0"/>
                <a:ea typeface="Calibri" pitchFamily="34" charset="-122"/>
                <a:cs typeface="Calibri" pitchFamily="34" charset="-120"/>
              </a:rPr>
              <a:t>Security services delivered to clients under contract by a licensed security agency.</a:t>
            </a:r>
            <a:endParaRPr lang="en-US" sz="1150" dirty="0"/>
          </a:p>
        </p:txBody>
      </p:sp>
      <p:sp>
        <p:nvSpPr>
          <p:cNvPr id="25" name="Shape 23"/>
          <p:cNvSpPr/>
          <p:nvPr/>
        </p:nvSpPr>
        <p:spPr>
          <a:xfrm>
            <a:off x="4709160" y="3547872"/>
            <a:ext cx="3977640" cy="1051560"/>
          </a:xfrm>
          <a:prstGeom prst="roundRect">
            <a:avLst>
              <a:gd name="adj" fmla="val 4348"/>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4709160" y="3547872"/>
            <a:ext cx="3977640" cy="256032"/>
          </a:xfrm>
          <a:prstGeom prst="rect">
            <a:avLst/>
          </a:prstGeom>
          <a:solidFill>
            <a:srgbClr val="B91C1C"/>
          </a:solidFill>
          <a:ln w="12700">
            <a:solidFill>
              <a:srgbClr val="B91C1C"/>
            </a:solidFill>
            <a:prstDash val="solid"/>
          </a:ln>
        </p:spPr>
      </p:sp>
      <p:sp>
        <p:nvSpPr>
          <p:cNvPr id="27" name="Text 25"/>
          <p:cNvSpPr/>
          <p:nvPr/>
        </p:nvSpPr>
        <p:spPr>
          <a:xfrm>
            <a:off x="4818888" y="3584448"/>
            <a:ext cx="3703320" cy="164592"/>
          </a:xfrm>
          <a:prstGeom prst="rect">
            <a:avLst/>
          </a:prstGeom>
          <a:noFill/>
          <a:ln/>
        </p:spPr>
        <p:txBody>
          <a:bodyPr wrap="square" lIns="0" tIns="0" rIns="0" bIns="0" rtlCol="0" anchor="ctr"/>
          <a:lstStyle/>
          <a:p>
            <a:pPr indent="0" marL="0">
              <a:buNone/>
            </a:pPr>
            <a:r>
              <a:rPr lang="en-US" sz="1100" b="1" dirty="0">
                <a:solidFill>
                  <a:srgbClr val="FFFFFF"/>
                </a:solidFill>
              </a:rPr>
              <a:t>Class G License</a:t>
            </a:r>
            <a:endParaRPr lang="en-US" sz="1100" dirty="0"/>
          </a:p>
        </p:txBody>
      </p:sp>
      <p:sp>
        <p:nvSpPr>
          <p:cNvPr id="28" name="Text 26"/>
          <p:cNvSpPr/>
          <p:nvPr/>
        </p:nvSpPr>
        <p:spPr>
          <a:xfrm>
            <a:off x="4818888" y="3913632"/>
            <a:ext cx="3703320" cy="566928"/>
          </a:xfrm>
          <a:prstGeom prst="rect">
            <a:avLst/>
          </a:prstGeom>
          <a:noFill/>
          <a:ln/>
        </p:spPr>
        <p:txBody>
          <a:bodyPr wrap="square" rtlCol="0" anchor="t"/>
          <a:lstStyle/>
          <a:p>
            <a:pPr indent="0" marL="0">
              <a:buNone/>
            </a:pPr>
            <a:r>
              <a:rPr lang="en-US" sz="1150" dirty="0">
                <a:solidFill>
                  <a:srgbClr val="1A202C"/>
                </a:solidFill>
                <a:latin typeface="Calibri" pitchFamily="34" charset="0"/>
                <a:ea typeface="Calibri" pitchFamily="34" charset="-122"/>
                <a:cs typeface="Calibri" pitchFamily="34" charset="-120"/>
              </a:rPr>
              <a:t>A statewide firearm license that authorizes licensed personnel to carry a firearm while performing regulated duties.</a:t>
            </a:r>
            <a:endParaRPr lang="en-US" sz="1150" dirty="0"/>
          </a:p>
        </p:txBody>
      </p:sp>
      <p:sp>
        <p:nvSpPr>
          <p:cNvPr id="29" name="Shape 27"/>
          <p:cNvSpPr/>
          <p:nvPr/>
        </p:nvSpPr>
        <p:spPr>
          <a:xfrm>
            <a:off x="0" y="4919472"/>
            <a:ext cx="9144000" cy="224028"/>
          </a:xfrm>
          <a:prstGeom prst="rect">
            <a:avLst/>
          </a:prstGeom>
          <a:solidFill>
            <a:srgbClr val="E8ECF2"/>
          </a:solidFill>
          <a:ln w="12700">
            <a:solidFill>
              <a:srgbClr val="E8ECF2"/>
            </a:solidFill>
            <a:prstDash val="solid"/>
          </a:ln>
        </p:spPr>
      </p:sp>
      <p:sp>
        <p:nvSpPr>
          <p:cNvPr id="30" name="Text 28"/>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Licensing, Renewal &amp; Discipline</a:t>
            </a:r>
            <a:endParaRPr lang="en-US" sz="2200" dirty="0"/>
          </a:p>
        </p:txBody>
      </p:sp>
      <p:sp>
        <p:nvSpPr>
          <p:cNvPr id="5" name="Text 3"/>
          <p:cNvSpPr/>
          <p:nvPr/>
        </p:nvSpPr>
        <p:spPr>
          <a:xfrm>
            <a:off x="411480" y="1097280"/>
            <a:ext cx="8275320" cy="3703320"/>
          </a:xfrm>
          <a:prstGeom prst="rect">
            <a:avLst/>
          </a:prstGeom>
          <a:noFill/>
          <a:ln/>
        </p:spPr>
        <p:txBody>
          <a:bodyPr wrap="square" rtlCol="0" anchor="t"/>
          <a:lstStyle/>
          <a:p>
            <a:pPr indent="0" marL="0">
              <a:buNone/>
            </a:pPr>
            <a:r>
              <a:rPr lang="en-US" sz="1500" b="1" dirty="0">
                <a:solidFill>
                  <a:srgbClr val="002147"/>
                </a:solidFill>
                <a:latin typeface="Calibri" pitchFamily="34" charset="0"/>
                <a:ea typeface="Calibri" pitchFamily="34" charset="-122"/>
                <a:cs typeface="Calibri" pitchFamily="34" charset="-120"/>
              </a:rPr>
              <a:t>Initial application basics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Class D applicants must submit the application, fingerprints, and proof of the required training hours.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Applicants must meet age, identity, and background requirements.</a:t>
            </a:r>
            <a:endParaRPr lang="en-US" sz="1500" dirty="0"/>
          </a:p>
          <a:p>
            <a:pPr marL="342900" indent="-342900">
              <a:buSzPct val="100000"/>
              <a:buChar char="•"/>
            </a:pPr>
            <a:r>
              <a:rPr lang="en-US" sz="1400" b="1" dirty="0">
                <a:solidFill>
                  <a:srgbClr val="1A202C"/>
                </a:solidFill>
                <a:latin typeface="Calibri" pitchFamily="34" charset="0"/>
                <a:ea typeface="Calibri" pitchFamily="34" charset="-122"/>
                <a:cs typeface="Calibri" pitchFamily="34" charset="-120"/>
              </a:rPr>
              <a:t>False statements on an application can lead to denial and criminal consequences.</a:t>
            </a:r>
            <a:endParaRPr lang="en-US" sz="1500" dirty="0"/>
          </a:p>
          <a:p>
            <a:pPr indent="0" marL="0">
              <a:buNone/>
            </a:pPr>
            <a:endParaRPr lang="en-US" sz="1500" dirty="0"/>
          </a:p>
          <a:p>
            <a:pPr indent="0" marL="0">
              <a:buNone/>
            </a:pPr>
            <a:r>
              <a:rPr lang="en-US" sz="1500" b="1" dirty="0">
                <a:solidFill>
                  <a:srgbClr val="002147"/>
                </a:solidFill>
                <a:latin typeface="Calibri" pitchFamily="34" charset="0"/>
                <a:ea typeface="Calibri" pitchFamily="34" charset="-122"/>
                <a:cs typeface="Calibri" pitchFamily="34" charset="-120"/>
              </a:rPr>
              <a:t>Renewal and on-duty rules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Class D licenses are renewed on a two-year cycle.</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Class G holders must also maintain annual firearms requalification.</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A license and employer-issued ID card must be carried while on duty.</a:t>
            </a:r>
            <a:endParaRPr lang="en-US" sz="1500" dirty="0"/>
          </a:p>
          <a:p>
            <a:pPr marL="342900" indent="-342900">
              <a:buSzPct val="100000"/>
              <a:buChar char="•"/>
            </a:pPr>
            <a:r>
              <a:rPr lang="en-US" sz="1400" b="1" dirty="0">
                <a:solidFill>
                  <a:srgbClr val="1A202C"/>
                </a:solidFill>
                <a:latin typeface="Calibri" pitchFamily="34" charset="0"/>
                <a:ea typeface="Calibri" pitchFamily="34" charset="-122"/>
                <a:cs typeface="Calibri" pitchFamily="34" charset="-120"/>
              </a:rPr>
              <a:t>Working on an expired or inactive license is treated like unlicensed activity.</a:t>
            </a:r>
            <a:endParaRPr lang="en-US" sz="1500" dirty="0"/>
          </a:p>
        </p:txBody>
      </p:sp>
      <p:sp>
        <p:nvSpPr>
          <p:cNvPr id="6" name="Shape 4"/>
          <p:cNvSpPr/>
          <p:nvPr/>
        </p:nvSpPr>
        <p:spPr>
          <a:xfrm>
            <a:off x="0" y="4919472"/>
            <a:ext cx="9144000" cy="224028"/>
          </a:xfrm>
          <a:prstGeom prst="rect">
            <a:avLst/>
          </a:prstGeom>
          <a:solidFill>
            <a:srgbClr val="E8ECF2"/>
          </a:solidFill>
          <a:ln w="12700">
            <a:solidFill>
              <a:srgbClr val="E8ECF2"/>
            </a:solidFill>
            <a:prstDash val="solid"/>
          </a:ln>
        </p:spPr>
      </p:sp>
      <p:sp>
        <p:nvSpPr>
          <p:cNvPr id="7" name="Text 5"/>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B7A"/>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C8A951"/>
          </a:solidFill>
          <a:ln w="12700">
            <a:solidFill>
              <a:srgbClr val="C8A951"/>
            </a:solidFill>
            <a:prstDash val="solid"/>
          </a:ln>
        </p:spPr>
      </p:sp>
      <p:sp>
        <p:nvSpPr>
          <p:cNvPr id="3" name="Shape 1"/>
          <p:cNvSpPr/>
          <p:nvPr/>
        </p:nvSpPr>
        <p:spPr>
          <a:xfrm>
            <a:off x="0" y="5061204"/>
            <a:ext cx="9144000" cy="82296"/>
          </a:xfrm>
          <a:prstGeom prst="rect">
            <a:avLst/>
          </a:prstGeom>
          <a:solidFill>
            <a:srgbClr val="C8A951"/>
          </a:solidFill>
          <a:ln w="12700">
            <a:solidFill>
              <a:srgbClr val="C8A951"/>
            </a:solidFill>
            <a:prstDash val="solid"/>
          </a:ln>
        </p:spPr>
      </p:sp>
      <p:sp>
        <p:nvSpPr>
          <p:cNvPr id="4" name="Shape 2"/>
          <p:cNvSpPr/>
          <p:nvPr/>
        </p:nvSpPr>
        <p:spPr>
          <a:xfrm>
            <a:off x="548640" y="1234440"/>
            <a:ext cx="1188720" cy="1188720"/>
          </a:xfrm>
          <a:prstGeom prst="ellipse">
            <a:avLst/>
          </a:prstGeom>
          <a:solidFill>
            <a:srgbClr val="C8A951"/>
          </a:solidFill>
          <a:ln w="12700">
            <a:solidFill>
              <a:srgbClr val="C8A951"/>
            </a:solidFill>
            <a:prstDash val="solid"/>
          </a:ln>
        </p:spPr>
      </p:sp>
      <p:sp>
        <p:nvSpPr>
          <p:cNvPr id="5" name="Text 3"/>
          <p:cNvSpPr/>
          <p:nvPr/>
        </p:nvSpPr>
        <p:spPr>
          <a:xfrm>
            <a:off x="548640" y="1234440"/>
            <a:ext cx="1188720" cy="1188720"/>
          </a:xfrm>
          <a:prstGeom prst="rect">
            <a:avLst/>
          </a:prstGeom>
          <a:noFill/>
          <a:ln/>
        </p:spPr>
        <p:txBody>
          <a:bodyPr wrap="square" lIns="0" tIns="0" rIns="0" bIns="0" rtlCol="0" anchor="ctr"/>
          <a:lstStyle/>
          <a:p>
            <a:pPr algn="ctr" indent="0" marL="0">
              <a:buNone/>
            </a:pPr>
            <a:r>
              <a:rPr lang="en-US" sz="3400" b="1" dirty="0">
                <a:solidFill>
                  <a:srgbClr val="002147"/>
                </a:solidFill>
              </a:rPr>
              <a:t>1.2</a:t>
            </a:r>
            <a:endParaRPr lang="en-US" sz="3400" dirty="0"/>
          </a:p>
        </p:txBody>
      </p:sp>
      <p:sp>
        <p:nvSpPr>
          <p:cNvPr id="6" name="Text 4"/>
          <p:cNvSpPr/>
          <p:nvPr/>
        </p:nvSpPr>
        <p:spPr>
          <a:xfrm>
            <a:off x="2011680" y="1325880"/>
            <a:ext cx="6400800" cy="219456"/>
          </a:xfrm>
          <a:prstGeom prst="rect">
            <a:avLst/>
          </a:prstGeom>
          <a:noFill/>
          <a:ln/>
        </p:spPr>
        <p:txBody>
          <a:bodyPr wrap="square" rtlCol="0" anchor="ctr"/>
          <a:lstStyle/>
          <a:p>
            <a:pPr indent="0" marL="0">
              <a:buNone/>
            </a:pPr>
            <a:r>
              <a:rPr lang="en-US" sz="1200" b="1" spc="300" kern="0" dirty="0">
                <a:solidFill>
                  <a:srgbClr val="E8CC78"/>
                </a:solidFill>
              </a:rPr>
              <a:t>SECTION</a:t>
            </a:r>
            <a:endParaRPr lang="en-US" sz="1200" dirty="0"/>
          </a:p>
        </p:txBody>
      </p:sp>
      <p:sp>
        <p:nvSpPr>
          <p:cNvPr id="7" name="Text 5"/>
          <p:cNvSpPr/>
          <p:nvPr/>
        </p:nvSpPr>
        <p:spPr>
          <a:xfrm>
            <a:off x="2011680" y="1645920"/>
            <a:ext cx="5029200" cy="10972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Liability</a:t>
            </a:r>
            <a:endParaRPr lang="en-US" sz="2800" dirty="0"/>
          </a:p>
        </p:txBody>
      </p:sp>
      <p:sp>
        <p:nvSpPr>
          <p:cNvPr id="8" name="Shape 6"/>
          <p:cNvSpPr/>
          <p:nvPr/>
        </p:nvSpPr>
        <p:spPr>
          <a:xfrm>
            <a:off x="2011680" y="2971800"/>
            <a:ext cx="1508760" cy="365760"/>
          </a:xfrm>
          <a:prstGeom prst="roundRect">
            <a:avLst>
              <a:gd name="adj" fmla="val 12500"/>
            </a:avLst>
          </a:prstGeom>
          <a:solidFill>
            <a:srgbClr val="0055A5"/>
          </a:solidFill>
          <a:ln w="12700">
            <a:solidFill>
              <a:srgbClr val="0055A5"/>
            </a:solidFill>
            <a:prstDash val="solid"/>
          </a:ln>
        </p:spPr>
      </p:sp>
      <p:sp>
        <p:nvSpPr>
          <p:cNvPr id="9" name="Text 7"/>
          <p:cNvSpPr/>
          <p:nvPr/>
        </p:nvSpPr>
        <p:spPr>
          <a:xfrm>
            <a:off x="2011680" y="2971800"/>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rPr>
              <a:t>~1 hr</a:t>
            </a:r>
            <a:endParaRPr lang="en-US" sz="1100" dirty="0"/>
          </a:p>
        </p:txBody>
      </p:sp>
      <p:pic>
        <p:nvPicPr>
          <p:cNvPr id="10" name="Image 0" descr="preencoded.png">    </p:cNvPr>
          <p:cNvPicPr>
            <a:picLocks noChangeAspect="1"/>
          </p:cNvPicPr>
          <p:nvPr/>
        </p:nvPicPr>
        <p:blipFill>
          <a:blip r:embed="rId1"/>
          <a:stretch>
            <a:fillRect/>
          </a:stretch>
        </p:blipFill>
        <p:spPr>
          <a:xfrm>
            <a:off x="7223760" y="2560320"/>
            <a:ext cx="1143000" cy="1143000"/>
          </a:xfrm>
          <a:prstGeom prst="rect">
            <a:avLst/>
          </a:prstGeom>
        </p:spPr>
      </p:pic>
      <p:sp>
        <p:nvSpPr>
          <p:cNvPr id="11" name="Text 8"/>
          <p:cNvSpPr/>
          <p:nvPr/>
        </p:nvSpPr>
        <p:spPr>
          <a:xfrm>
            <a:off x="411480" y="4736592"/>
            <a:ext cx="8321040" cy="201168"/>
          </a:xfrm>
          <a:prstGeom prst="rect">
            <a:avLst/>
          </a:prstGeom>
          <a:noFill/>
          <a:ln/>
        </p:spPr>
        <p:txBody>
          <a:bodyPr wrap="square" rtlCol="0" anchor="ctr"/>
          <a:lstStyle/>
          <a:p>
            <a:pPr algn="ctr" indent="0" marL="0">
              <a:buNone/>
            </a:pPr>
            <a:r>
              <a:rPr lang="en-US" sz="850" dirty="0">
                <a:solidFill>
                  <a:srgbClr val="AAB7D0"/>
                </a:solidFill>
              </a:rPr>
              <a:t>Module 1 | Legal Aspects of Private Security | VAS Security Academy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Criminal Liability vs. Civil Liability</a:t>
            </a:r>
            <a:endParaRPr lang="en-US" sz="2200" dirty="0"/>
          </a:p>
        </p:txBody>
      </p:sp>
      <p:sp>
        <p:nvSpPr>
          <p:cNvPr id="5" name="Shape 3"/>
          <p:cNvSpPr/>
          <p:nvPr/>
        </p:nvSpPr>
        <p:spPr>
          <a:xfrm>
            <a:off x="365760" y="1097280"/>
            <a:ext cx="4069080" cy="384048"/>
          </a:xfrm>
          <a:prstGeom prst="rect">
            <a:avLst/>
          </a:prstGeom>
          <a:solidFill>
            <a:srgbClr val="B91C1C"/>
          </a:solidFill>
          <a:ln w="12700">
            <a:solidFill>
              <a:srgbClr val="B91C1C"/>
            </a:solidFill>
            <a:prstDash val="solid"/>
          </a:ln>
        </p:spPr>
      </p:sp>
      <p:sp>
        <p:nvSpPr>
          <p:cNvPr id="6" name="Text 4"/>
          <p:cNvSpPr/>
          <p:nvPr/>
        </p:nvSpPr>
        <p:spPr>
          <a:xfrm>
            <a:off x="365760" y="1097280"/>
            <a:ext cx="4069080" cy="384048"/>
          </a:xfrm>
          <a:prstGeom prst="rect">
            <a:avLst/>
          </a:prstGeom>
          <a:noFill/>
          <a:ln/>
        </p:spPr>
        <p:txBody>
          <a:bodyPr wrap="square" lIns="0" tIns="0" rIns="0" bIns="0" rtlCol="0" anchor="ctr"/>
          <a:lstStyle/>
          <a:p>
            <a:pPr algn="ctr" indent="0" marL="0">
              <a:buNone/>
            </a:pPr>
            <a:r>
              <a:rPr lang="en-US" sz="1250" b="1" dirty="0">
                <a:solidFill>
                  <a:srgbClr val="FFFFFF"/>
                </a:solidFill>
              </a:rPr>
              <a:t>CRIMINAL LIABILITY</a:t>
            </a:r>
            <a:endParaRPr lang="en-US" sz="1250" dirty="0"/>
          </a:p>
        </p:txBody>
      </p:sp>
      <p:sp>
        <p:nvSpPr>
          <p:cNvPr id="7" name="Shape 5"/>
          <p:cNvSpPr/>
          <p:nvPr/>
        </p:nvSpPr>
        <p:spPr>
          <a:xfrm>
            <a:off x="365760" y="1499616"/>
            <a:ext cx="4069080" cy="3246120"/>
          </a:xfrm>
          <a:prstGeom prst="roundRect">
            <a:avLst>
              <a:gd name="adj" fmla="val 1127"/>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8" name="Text 6"/>
          <p:cNvSpPr/>
          <p:nvPr/>
        </p:nvSpPr>
        <p:spPr>
          <a:xfrm>
            <a:off x="493776" y="1591056"/>
            <a:ext cx="3767328" cy="3017520"/>
          </a:xfrm>
          <a:prstGeom prst="rect">
            <a:avLst/>
          </a:prstGeom>
          <a:noFill/>
          <a:ln/>
        </p:spPr>
        <p:txBody>
          <a:bodyPr wrap="square" rtlCol="0" anchor="t"/>
          <a:lstStyle/>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Violation of a Florida criminal statute.</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Prosecuted by the State of Florida.</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Penalties may include jail, prison, probation, or fines.</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Burden of proof is beyond a reasonable doubt.</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Examples include assault, battery, robbery, and unlicensed activity.</a:t>
            </a:r>
            <a:endParaRPr lang="en-US" sz="1230" dirty="0"/>
          </a:p>
        </p:txBody>
      </p:sp>
      <p:sp>
        <p:nvSpPr>
          <p:cNvPr id="9" name="Shape 7"/>
          <p:cNvSpPr/>
          <p:nvPr/>
        </p:nvSpPr>
        <p:spPr>
          <a:xfrm>
            <a:off x="4663440" y="1097280"/>
            <a:ext cx="4069080" cy="384048"/>
          </a:xfrm>
          <a:prstGeom prst="rect">
            <a:avLst/>
          </a:prstGeom>
          <a:solidFill>
            <a:srgbClr val="002147"/>
          </a:solidFill>
          <a:ln w="12700">
            <a:solidFill>
              <a:srgbClr val="002147"/>
            </a:solidFill>
            <a:prstDash val="solid"/>
          </a:ln>
        </p:spPr>
      </p:sp>
      <p:sp>
        <p:nvSpPr>
          <p:cNvPr id="10" name="Text 8"/>
          <p:cNvSpPr/>
          <p:nvPr/>
        </p:nvSpPr>
        <p:spPr>
          <a:xfrm>
            <a:off x="4663440" y="1097280"/>
            <a:ext cx="4069080" cy="384048"/>
          </a:xfrm>
          <a:prstGeom prst="rect">
            <a:avLst/>
          </a:prstGeom>
          <a:noFill/>
          <a:ln/>
        </p:spPr>
        <p:txBody>
          <a:bodyPr wrap="square" lIns="0" tIns="0" rIns="0" bIns="0" rtlCol="0" anchor="ctr"/>
          <a:lstStyle/>
          <a:p>
            <a:pPr algn="ctr" indent="0" marL="0">
              <a:buNone/>
            </a:pPr>
            <a:r>
              <a:rPr lang="en-US" sz="1250" b="1" dirty="0">
                <a:solidFill>
                  <a:srgbClr val="FFFFFF"/>
                </a:solidFill>
              </a:rPr>
              <a:t>CIVIL LIABILITY</a:t>
            </a:r>
            <a:endParaRPr lang="en-US" sz="1250" dirty="0"/>
          </a:p>
        </p:txBody>
      </p:sp>
      <p:sp>
        <p:nvSpPr>
          <p:cNvPr id="11" name="Shape 9"/>
          <p:cNvSpPr/>
          <p:nvPr/>
        </p:nvSpPr>
        <p:spPr>
          <a:xfrm>
            <a:off x="4663440" y="1499616"/>
            <a:ext cx="4069080" cy="3246120"/>
          </a:xfrm>
          <a:prstGeom prst="roundRect">
            <a:avLst>
              <a:gd name="adj" fmla="val 1127"/>
            </a:avLst>
          </a:prstGeom>
          <a:solidFill>
            <a:srgbClr val="F4F6FA"/>
          </a:solidFill>
          <a:ln w="6350">
            <a:solidFill>
              <a:srgbClr val="E8ECF2"/>
            </a:solidFill>
            <a:prstDash val="solid"/>
          </a:ln>
          <a:effectLst>
            <a:outerShdw sx="100000" sy="100000" kx="0" ky="0" algn="bl" rotWithShape="0" blurRad="50800" dist="25400" dir="8100000">
              <a:srgbClr val="000000">
                <a:alpha val="12000"/>
              </a:srgbClr>
            </a:outerShdw>
          </a:effectLst>
        </p:spPr>
      </p:sp>
      <p:sp>
        <p:nvSpPr>
          <p:cNvPr id="12" name="Text 10"/>
          <p:cNvSpPr/>
          <p:nvPr/>
        </p:nvSpPr>
        <p:spPr>
          <a:xfrm>
            <a:off x="4791456" y="1591056"/>
            <a:ext cx="3767328" cy="3017520"/>
          </a:xfrm>
          <a:prstGeom prst="rect">
            <a:avLst/>
          </a:prstGeom>
          <a:noFill/>
          <a:ln/>
        </p:spPr>
        <p:txBody>
          <a:bodyPr wrap="square" rtlCol="0" anchor="t"/>
          <a:lstStyle/>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A private wrong that causes injury or loss to another person.</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Usually brought by the injured individual or entity.</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Penalties usually involve monetary damages or injunctions.</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Burden of proof is preponderance of the evidence.</a:t>
            </a:r>
            <a:endParaRPr lang="en-US" sz="1230" dirty="0"/>
          </a:p>
          <a:p>
            <a:pPr marL="342900" indent="-342900">
              <a:buSzPct val="100000"/>
              <a:buChar char="•"/>
            </a:pPr>
            <a:r>
              <a:rPr lang="en-US" sz="1230" dirty="0">
                <a:solidFill>
                  <a:srgbClr val="1A202C"/>
                </a:solidFill>
                <a:latin typeface="Calibri" pitchFamily="34" charset="0"/>
                <a:ea typeface="Calibri" pitchFamily="34" charset="-122"/>
                <a:cs typeface="Calibri" pitchFamily="34" charset="-120"/>
              </a:rPr>
              <a:t>Examples include negligence, false imprisonment, and excessive force claims.</a:t>
            </a:r>
            <a:endParaRPr lang="en-US" sz="1230" dirty="0"/>
          </a:p>
        </p:txBody>
      </p:sp>
      <p:sp>
        <p:nvSpPr>
          <p:cNvPr id="13" name="Shape 11"/>
          <p:cNvSpPr/>
          <p:nvPr/>
        </p:nvSpPr>
        <p:spPr>
          <a:xfrm>
            <a:off x="0" y="4919472"/>
            <a:ext cx="9144000" cy="224028"/>
          </a:xfrm>
          <a:prstGeom prst="rect">
            <a:avLst/>
          </a:prstGeom>
          <a:solidFill>
            <a:srgbClr val="E8ECF2"/>
          </a:solidFill>
          <a:ln w="12700">
            <a:solidFill>
              <a:srgbClr val="E8ECF2"/>
            </a:solidFill>
            <a:prstDash val="solid"/>
          </a:ln>
        </p:spPr>
      </p:sp>
      <p:sp>
        <p:nvSpPr>
          <p:cNvPr id="14" name="Text 12"/>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Detention, Searches &amp; Seizures</a:t>
            </a:r>
            <a:endParaRPr lang="en-US" sz="2200" dirty="0"/>
          </a:p>
        </p:txBody>
      </p:sp>
      <p:sp>
        <p:nvSpPr>
          <p:cNvPr id="5" name="Text 3"/>
          <p:cNvSpPr/>
          <p:nvPr/>
        </p:nvSpPr>
        <p:spPr>
          <a:xfrm>
            <a:off x="411480" y="1097280"/>
            <a:ext cx="8275320" cy="3703320"/>
          </a:xfrm>
          <a:prstGeom prst="rect">
            <a:avLst/>
          </a:prstGeom>
          <a:noFill/>
          <a:ln/>
        </p:spPr>
        <p:txBody>
          <a:bodyPr wrap="square" rtlCol="0" anchor="t"/>
          <a:lstStyle/>
          <a:p>
            <a:pPr indent="0" marL="0">
              <a:buNone/>
            </a:pPr>
            <a:r>
              <a:rPr lang="en-US" sz="1500" b="1" dirty="0">
                <a:solidFill>
                  <a:srgbClr val="002147"/>
                </a:solidFill>
                <a:latin typeface="Calibri" pitchFamily="34" charset="0"/>
                <a:ea typeface="Calibri" pitchFamily="34" charset="-122"/>
                <a:cs typeface="Calibri" pitchFamily="34" charset="-120"/>
              </a:rPr>
              <a:t>Security officers are not law enforcement.</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They do not have general police powers and should not describe a detention as an arrest unless a lawful citizen's arrest applies.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Retail theft detention authority is narrow and must be exercised reasonably under Florida law.</a:t>
            </a:r>
            <a:endParaRPr lang="en-US" sz="1500" dirty="0"/>
          </a:p>
          <a:p>
            <a:pPr marL="342900" indent="-342900">
              <a:buSzPct val="100000"/>
              <a:buChar char="•"/>
            </a:pPr>
            <a:r>
              <a:rPr lang="en-US" sz="1400" b="1" dirty="0">
                <a:solidFill>
                  <a:srgbClr val="1A202C"/>
                </a:solidFill>
                <a:latin typeface="Calibri" pitchFamily="34" charset="0"/>
                <a:ea typeface="Calibri" pitchFamily="34" charset="-122"/>
                <a:cs typeface="Calibri" pitchFamily="34" charset="-120"/>
              </a:rPr>
              <a:t>Wrongful detention may create false imprisonment liability.</a:t>
            </a:r>
            <a:endParaRPr lang="en-US" sz="1500" dirty="0"/>
          </a:p>
          <a:p>
            <a:pPr indent="0" marL="0">
              <a:buNone/>
            </a:pPr>
            <a:endParaRPr lang="en-US" sz="1500" dirty="0"/>
          </a:p>
          <a:p>
            <a:pPr indent="0" marL="0">
              <a:buNone/>
            </a:pPr>
            <a:r>
              <a:rPr lang="en-US" sz="1500" b="1" dirty="0">
                <a:solidFill>
                  <a:srgbClr val="002147"/>
                </a:solidFill>
                <a:latin typeface="Calibri" pitchFamily="34" charset="0"/>
                <a:ea typeface="Calibri" pitchFamily="34" charset="-122"/>
                <a:cs typeface="Calibri" pitchFamily="34" charset="-120"/>
              </a:rPr>
              <a:t>Fourth Amendment principles still matter.</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The Fourth Amendment primarily restricts government actors, but private security actions may still be challenged if the officer acts like an agent of the state.</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Consent, policy, and scope matter; when in doubt, secure the scene and call law enforcement.</a:t>
            </a:r>
            <a:endParaRPr lang="en-US" sz="1500" dirty="0"/>
          </a:p>
        </p:txBody>
      </p:sp>
      <p:sp>
        <p:nvSpPr>
          <p:cNvPr id="6" name="Shape 4"/>
          <p:cNvSpPr/>
          <p:nvPr/>
        </p:nvSpPr>
        <p:spPr>
          <a:xfrm>
            <a:off x="0" y="4919472"/>
            <a:ext cx="9144000" cy="224028"/>
          </a:xfrm>
          <a:prstGeom prst="rect">
            <a:avLst/>
          </a:prstGeom>
          <a:solidFill>
            <a:srgbClr val="E8ECF2"/>
          </a:solidFill>
          <a:ln w="12700">
            <a:solidFill>
              <a:srgbClr val="E8ECF2"/>
            </a:solidFill>
            <a:prstDash val="solid"/>
          </a:ln>
        </p:spPr>
      </p:sp>
      <p:sp>
        <p:nvSpPr>
          <p:cNvPr id="7" name="Text 5"/>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B7A"/>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C8A951"/>
          </a:solidFill>
          <a:ln w="12700">
            <a:solidFill>
              <a:srgbClr val="C8A951"/>
            </a:solidFill>
            <a:prstDash val="solid"/>
          </a:ln>
        </p:spPr>
      </p:sp>
      <p:sp>
        <p:nvSpPr>
          <p:cNvPr id="3" name="Shape 1"/>
          <p:cNvSpPr/>
          <p:nvPr/>
        </p:nvSpPr>
        <p:spPr>
          <a:xfrm>
            <a:off x="0" y="5061204"/>
            <a:ext cx="9144000" cy="82296"/>
          </a:xfrm>
          <a:prstGeom prst="rect">
            <a:avLst/>
          </a:prstGeom>
          <a:solidFill>
            <a:srgbClr val="C8A951"/>
          </a:solidFill>
          <a:ln w="12700">
            <a:solidFill>
              <a:srgbClr val="C8A951"/>
            </a:solidFill>
            <a:prstDash val="solid"/>
          </a:ln>
        </p:spPr>
      </p:sp>
      <p:sp>
        <p:nvSpPr>
          <p:cNvPr id="4" name="Shape 2"/>
          <p:cNvSpPr/>
          <p:nvPr/>
        </p:nvSpPr>
        <p:spPr>
          <a:xfrm>
            <a:off x="548640" y="1234440"/>
            <a:ext cx="1188720" cy="1188720"/>
          </a:xfrm>
          <a:prstGeom prst="ellipse">
            <a:avLst/>
          </a:prstGeom>
          <a:solidFill>
            <a:srgbClr val="C8A951"/>
          </a:solidFill>
          <a:ln w="12700">
            <a:solidFill>
              <a:srgbClr val="C8A951"/>
            </a:solidFill>
            <a:prstDash val="solid"/>
          </a:ln>
        </p:spPr>
      </p:sp>
      <p:sp>
        <p:nvSpPr>
          <p:cNvPr id="5" name="Text 3"/>
          <p:cNvSpPr/>
          <p:nvPr/>
        </p:nvSpPr>
        <p:spPr>
          <a:xfrm>
            <a:off x="548640" y="1234440"/>
            <a:ext cx="1188720" cy="1188720"/>
          </a:xfrm>
          <a:prstGeom prst="rect">
            <a:avLst/>
          </a:prstGeom>
          <a:noFill/>
          <a:ln/>
        </p:spPr>
        <p:txBody>
          <a:bodyPr wrap="square" lIns="0" tIns="0" rIns="0" bIns="0" rtlCol="0" anchor="ctr"/>
          <a:lstStyle/>
          <a:p>
            <a:pPr algn="ctr" indent="0" marL="0">
              <a:buNone/>
            </a:pPr>
            <a:r>
              <a:rPr lang="en-US" sz="3400" b="1" dirty="0">
                <a:solidFill>
                  <a:srgbClr val="002147"/>
                </a:solidFill>
              </a:rPr>
              <a:t>1.3</a:t>
            </a:r>
            <a:endParaRPr lang="en-US" sz="3400" dirty="0"/>
          </a:p>
        </p:txBody>
      </p:sp>
      <p:sp>
        <p:nvSpPr>
          <p:cNvPr id="6" name="Text 4"/>
          <p:cNvSpPr/>
          <p:nvPr/>
        </p:nvSpPr>
        <p:spPr>
          <a:xfrm>
            <a:off x="2011680" y="1325880"/>
            <a:ext cx="6400800" cy="219456"/>
          </a:xfrm>
          <a:prstGeom prst="rect">
            <a:avLst/>
          </a:prstGeom>
          <a:noFill/>
          <a:ln/>
        </p:spPr>
        <p:txBody>
          <a:bodyPr wrap="square" rtlCol="0" anchor="ctr"/>
          <a:lstStyle/>
          <a:p>
            <a:pPr indent="0" marL="0">
              <a:buNone/>
            </a:pPr>
            <a:r>
              <a:rPr lang="en-US" sz="1200" b="1" spc="300" kern="0" dirty="0">
                <a:solidFill>
                  <a:srgbClr val="E8CC78"/>
                </a:solidFill>
              </a:rPr>
              <a:t>SECTION</a:t>
            </a:r>
            <a:endParaRPr lang="en-US" sz="1200" dirty="0"/>
          </a:p>
        </p:txBody>
      </p:sp>
      <p:sp>
        <p:nvSpPr>
          <p:cNvPr id="7" name="Text 5"/>
          <p:cNvSpPr/>
          <p:nvPr/>
        </p:nvSpPr>
        <p:spPr>
          <a:xfrm>
            <a:off x="2011680" y="1645920"/>
            <a:ext cx="5029200" cy="10972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Use of Force</a:t>
            </a:r>
            <a:endParaRPr lang="en-US" sz="2800" dirty="0"/>
          </a:p>
          <a:p>
            <a:pPr indent="0" marL="0">
              <a:buNone/>
            </a:pPr>
            <a:r>
              <a:rPr lang="en-US" sz="2800" b="1" dirty="0">
                <a:solidFill>
                  <a:srgbClr val="FFFFFF"/>
                </a:solidFill>
                <a:latin typeface="Georgia" pitchFamily="34" charset="0"/>
                <a:ea typeface="Georgia" pitchFamily="34" charset="-122"/>
                <a:cs typeface="Georgia" pitchFamily="34" charset="-120"/>
              </a:rPr>
              <a:t>Chapter 776, F.S.</a:t>
            </a:r>
            <a:endParaRPr lang="en-US" sz="2800" dirty="0"/>
          </a:p>
        </p:txBody>
      </p:sp>
      <p:sp>
        <p:nvSpPr>
          <p:cNvPr id="8" name="Shape 6"/>
          <p:cNvSpPr/>
          <p:nvPr/>
        </p:nvSpPr>
        <p:spPr>
          <a:xfrm>
            <a:off x="2011680" y="2971800"/>
            <a:ext cx="1508760" cy="365760"/>
          </a:xfrm>
          <a:prstGeom prst="roundRect">
            <a:avLst>
              <a:gd name="adj" fmla="val 12500"/>
            </a:avLst>
          </a:prstGeom>
          <a:solidFill>
            <a:srgbClr val="0055A5"/>
          </a:solidFill>
          <a:ln w="12700">
            <a:solidFill>
              <a:srgbClr val="0055A5"/>
            </a:solidFill>
            <a:prstDash val="solid"/>
          </a:ln>
        </p:spPr>
      </p:sp>
      <p:sp>
        <p:nvSpPr>
          <p:cNvPr id="9" name="Text 7"/>
          <p:cNvSpPr/>
          <p:nvPr/>
        </p:nvSpPr>
        <p:spPr>
          <a:xfrm>
            <a:off x="2011680" y="2971800"/>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rPr>
              <a:t>~1 hr</a:t>
            </a:r>
            <a:endParaRPr lang="en-US" sz="1100" dirty="0"/>
          </a:p>
        </p:txBody>
      </p:sp>
      <p:pic>
        <p:nvPicPr>
          <p:cNvPr id="10" name="Image 0" descr="preencoded.png">    </p:cNvPr>
          <p:cNvPicPr>
            <a:picLocks noChangeAspect="1"/>
          </p:cNvPicPr>
          <p:nvPr/>
        </p:nvPicPr>
        <p:blipFill>
          <a:blip r:embed="rId1"/>
          <a:stretch>
            <a:fillRect/>
          </a:stretch>
        </p:blipFill>
        <p:spPr>
          <a:xfrm>
            <a:off x="7223760" y="2560320"/>
            <a:ext cx="1143000" cy="1143000"/>
          </a:xfrm>
          <a:prstGeom prst="rect">
            <a:avLst/>
          </a:prstGeom>
        </p:spPr>
      </p:pic>
      <p:sp>
        <p:nvSpPr>
          <p:cNvPr id="11" name="Text 8"/>
          <p:cNvSpPr/>
          <p:nvPr/>
        </p:nvSpPr>
        <p:spPr>
          <a:xfrm>
            <a:off x="411480" y="4736592"/>
            <a:ext cx="8321040" cy="201168"/>
          </a:xfrm>
          <a:prstGeom prst="rect">
            <a:avLst/>
          </a:prstGeom>
          <a:noFill/>
          <a:ln/>
        </p:spPr>
        <p:txBody>
          <a:bodyPr wrap="square" rtlCol="0" anchor="ctr"/>
          <a:lstStyle/>
          <a:p>
            <a:pPr algn="ctr" indent="0" marL="0">
              <a:buNone/>
            </a:pPr>
            <a:r>
              <a:rPr lang="en-US" sz="850" dirty="0">
                <a:solidFill>
                  <a:srgbClr val="AAB7D0"/>
                </a:solidFill>
              </a:rPr>
              <a:t>Module 1 | Legal Aspects of Private Security | VAS Security Academy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Use of Force in Defense of Person — s. 776.012, F.S.</a:t>
            </a:r>
            <a:endParaRPr lang="en-US" sz="2200" dirty="0"/>
          </a:p>
        </p:txBody>
      </p:sp>
      <p:sp>
        <p:nvSpPr>
          <p:cNvPr id="5" name="Shape 3"/>
          <p:cNvSpPr/>
          <p:nvPr/>
        </p:nvSpPr>
        <p:spPr>
          <a:xfrm>
            <a:off x="7406640" y="182880"/>
            <a:ext cx="1508760" cy="530352"/>
          </a:xfrm>
          <a:prstGeom prst="roundRect">
            <a:avLst>
              <a:gd name="adj" fmla="val 8621"/>
            </a:avLst>
          </a:prstGeom>
          <a:solidFill>
            <a:srgbClr val="C8A951"/>
          </a:solidFill>
          <a:ln w="12700">
            <a:solidFill>
              <a:srgbClr val="C8A951"/>
            </a:solidFill>
            <a:prstDash val="solid"/>
          </a:ln>
        </p:spPr>
      </p:sp>
      <p:sp>
        <p:nvSpPr>
          <p:cNvPr id="6" name="Text 4"/>
          <p:cNvSpPr/>
          <p:nvPr/>
        </p:nvSpPr>
        <p:spPr>
          <a:xfrm>
            <a:off x="7406640" y="182880"/>
            <a:ext cx="1508760" cy="530352"/>
          </a:xfrm>
          <a:prstGeom prst="rect">
            <a:avLst/>
          </a:prstGeom>
          <a:noFill/>
          <a:ln/>
        </p:spPr>
        <p:txBody>
          <a:bodyPr wrap="square" lIns="0" tIns="0" rIns="0" bIns="0" rtlCol="0" anchor="ctr"/>
          <a:lstStyle/>
          <a:p>
            <a:pPr algn="ctr" indent="0" marL="0">
              <a:buNone/>
            </a:pPr>
            <a:r>
              <a:rPr lang="en-US" sz="1000" b="1" dirty="0">
                <a:solidFill>
                  <a:srgbClr val="002147"/>
                </a:solidFill>
              </a:rPr>
              <a:t>s. 776.012</a:t>
            </a:r>
            <a:endParaRPr lang="en-US" sz="1000" dirty="0"/>
          </a:p>
        </p:txBody>
      </p:sp>
      <p:sp>
        <p:nvSpPr>
          <p:cNvPr id="7" name="Shape 5"/>
          <p:cNvSpPr/>
          <p:nvPr/>
        </p:nvSpPr>
        <p:spPr>
          <a:xfrm>
            <a:off x="365760" y="1078992"/>
            <a:ext cx="8412480" cy="1353312"/>
          </a:xfrm>
          <a:prstGeom prst="roundRect">
            <a:avLst>
              <a:gd name="adj" fmla="val 2703"/>
            </a:avLst>
          </a:prstGeom>
          <a:solidFill>
            <a:srgbClr val="002147"/>
          </a:solidFill>
          <a:ln w="12700">
            <a:solidFill>
              <a:srgbClr val="002147"/>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365760" y="1078992"/>
            <a:ext cx="73152" cy="1353312"/>
          </a:xfrm>
          <a:prstGeom prst="rect">
            <a:avLst/>
          </a:prstGeom>
          <a:solidFill>
            <a:srgbClr val="C8A951"/>
          </a:solidFill>
          <a:ln w="12700">
            <a:solidFill>
              <a:srgbClr val="C8A951"/>
            </a:solidFill>
            <a:prstDash val="solid"/>
          </a:ln>
        </p:spPr>
      </p:sp>
      <p:sp>
        <p:nvSpPr>
          <p:cNvPr id="9" name="Text 7"/>
          <p:cNvSpPr/>
          <p:nvPr/>
        </p:nvSpPr>
        <p:spPr>
          <a:xfrm>
            <a:off x="594360" y="1234440"/>
            <a:ext cx="7909560" cy="960120"/>
          </a:xfrm>
          <a:prstGeom prst="rect">
            <a:avLst/>
          </a:prstGeom>
          <a:noFill/>
          <a:ln/>
        </p:spPr>
        <p:txBody>
          <a:bodyPr wrap="square" rtlCol="0" anchor="ctr"/>
          <a:lstStyle/>
          <a:p>
            <a:pPr indent="0" marL="0">
              <a:buNone/>
            </a:pPr>
            <a:r>
              <a:rPr lang="en-US" sz="1280" i="1" dirty="0">
                <a:solidFill>
                  <a:srgbClr val="FFFFFF"/>
                </a:solidFill>
                <a:latin typeface="Georgia" pitchFamily="34" charset="0"/>
                <a:ea typeface="Georgia" pitchFamily="34" charset="-122"/>
                <a:cs typeface="Georgia" pitchFamily="34" charset="-120"/>
              </a:rPr>
              <a:t>Deadly force is justified only when a person reasonably believes it is necessary to prevent imminent death, great bodily harm, or the imminent commission of a forcible felony.</a:t>
            </a:r>
            <a:endParaRPr lang="en-US" sz="1280" dirty="0"/>
          </a:p>
        </p:txBody>
      </p:sp>
      <p:sp>
        <p:nvSpPr>
          <p:cNvPr id="10" name="Text 8"/>
          <p:cNvSpPr/>
          <p:nvPr/>
        </p:nvSpPr>
        <p:spPr>
          <a:xfrm>
            <a:off x="384048" y="2670048"/>
            <a:ext cx="1828800" cy="201168"/>
          </a:xfrm>
          <a:prstGeom prst="rect">
            <a:avLst/>
          </a:prstGeom>
          <a:noFill/>
          <a:ln/>
        </p:spPr>
        <p:txBody>
          <a:bodyPr wrap="square" rtlCol="0" anchor="ctr"/>
          <a:lstStyle/>
          <a:p>
            <a:pPr indent="0" marL="0">
              <a:buNone/>
            </a:pPr>
            <a:r>
              <a:rPr lang="en-US" sz="1100" b="1" spc="200" kern="0" dirty="0">
                <a:solidFill>
                  <a:srgbClr val="003B7A"/>
                </a:solidFill>
              </a:rPr>
              <a:t>KEY POINTS</a:t>
            </a:r>
            <a:endParaRPr lang="en-US" sz="1100" dirty="0"/>
          </a:p>
        </p:txBody>
      </p:sp>
      <p:sp>
        <p:nvSpPr>
          <p:cNvPr id="11" name="Text 9"/>
          <p:cNvSpPr/>
          <p:nvPr/>
        </p:nvSpPr>
        <p:spPr>
          <a:xfrm>
            <a:off x="384048" y="2926080"/>
            <a:ext cx="8321040" cy="1783080"/>
          </a:xfrm>
          <a:prstGeom prst="rect">
            <a:avLst/>
          </a:prstGeom>
          <a:noFill/>
          <a:ln/>
        </p:spPr>
        <p:txBody>
          <a:bodyPr wrap="square" rtlCol="0" anchor="t"/>
          <a:lstStyle/>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Security officers have citizen-level force authority only.</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Reasonableness is judged from the facts known at the time, not hindsight.</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The threat must be imminent, not speculative or already over.</a:t>
            </a:r>
            <a:endParaRPr lang="en-US" sz="1300" dirty="0"/>
          </a:p>
          <a:p>
            <a:pPr marL="342900" indent="-342900">
              <a:buSzPct val="100000"/>
              <a:buChar char="•"/>
            </a:pPr>
            <a:r>
              <a:rPr lang="en-US" sz="1300" dirty="0">
                <a:solidFill>
                  <a:srgbClr val="1A202C"/>
                </a:solidFill>
                <a:latin typeface="Calibri" pitchFamily="34" charset="0"/>
                <a:ea typeface="Calibri" pitchFamily="34" charset="-122"/>
                <a:cs typeface="Calibri" pitchFamily="34" charset="-120"/>
              </a:rPr>
              <a:t>Deadly force remains a last resort even when it may be legally justified.</a:t>
            </a:r>
            <a:endParaRPr lang="en-US" sz="1300" dirty="0"/>
          </a:p>
        </p:txBody>
      </p:sp>
      <p:sp>
        <p:nvSpPr>
          <p:cNvPr id="12" name="Shape 10"/>
          <p:cNvSpPr/>
          <p:nvPr/>
        </p:nvSpPr>
        <p:spPr>
          <a:xfrm>
            <a:off x="0" y="4919472"/>
            <a:ext cx="9144000" cy="224028"/>
          </a:xfrm>
          <a:prstGeom prst="rect">
            <a:avLst/>
          </a:prstGeom>
          <a:solidFill>
            <a:srgbClr val="E8ECF2"/>
          </a:solidFill>
          <a:ln w="12700">
            <a:solidFill>
              <a:srgbClr val="E8ECF2"/>
            </a:solidFill>
            <a:prstDash val="solid"/>
          </a:ln>
        </p:spPr>
      </p:sp>
      <p:sp>
        <p:nvSpPr>
          <p:cNvPr id="13" name="Text 11"/>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B7A"/>
          </a:solidFill>
          <a:ln w="12700">
            <a:solidFill>
              <a:srgbClr val="003B7A"/>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Use of Force Scenario</a:t>
            </a:r>
            <a:endParaRPr lang="en-US" sz="2200" dirty="0"/>
          </a:p>
        </p:txBody>
      </p:sp>
      <p:sp>
        <p:nvSpPr>
          <p:cNvPr id="5" name="Shape 3"/>
          <p:cNvSpPr/>
          <p:nvPr/>
        </p:nvSpPr>
        <p:spPr>
          <a:xfrm>
            <a:off x="365760" y="1060704"/>
            <a:ext cx="8366760" cy="1417320"/>
          </a:xfrm>
          <a:prstGeom prst="roundRect">
            <a:avLst>
              <a:gd name="adj" fmla="val 2581"/>
            </a:avLst>
          </a:prstGeom>
          <a:solidFill>
            <a:srgbClr val="FFF8E1"/>
          </a:solidFill>
          <a:ln w="15240">
            <a:solidFill>
              <a:srgbClr val="C8A951"/>
            </a:solidFill>
            <a:prstDash val="solid"/>
          </a:ln>
          <a:effectLst>
            <a:outerShdw sx="100000" sy="100000" kx="0" ky="0" algn="bl" rotWithShape="0" blurRad="50800" dist="25400" dir="8100000">
              <a:srgbClr val="000000">
                <a:alpha val="12000"/>
              </a:srgbClr>
            </a:outerShdw>
          </a:effectLst>
        </p:spPr>
      </p:sp>
      <p:sp>
        <p:nvSpPr>
          <p:cNvPr id="6" name="Text 4"/>
          <p:cNvSpPr/>
          <p:nvPr/>
        </p:nvSpPr>
        <p:spPr>
          <a:xfrm>
            <a:off x="548640" y="1152144"/>
            <a:ext cx="1005840" cy="164592"/>
          </a:xfrm>
          <a:prstGeom prst="rect">
            <a:avLst/>
          </a:prstGeom>
          <a:noFill/>
          <a:ln/>
        </p:spPr>
        <p:txBody>
          <a:bodyPr wrap="square" rtlCol="0" anchor="ctr"/>
          <a:lstStyle/>
          <a:p>
            <a:pPr indent="0" marL="0">
              <a:buNone/>
            </a:pPr>
            <a:r>
              <a:rPr lang="en-US" sz="900" b="1" spc="100" kern="0" dirty="0">
                <a:solidFill>
                  <a:srgbClr val="C8A951"/>
                </a:solidFill>
              </a:rPr>
              <a:t>SCENARIO</a:t>
            </a:r>
            <a:endParaRPr lang="en-US" sz="900" dirty="0"/>
          </a:p>
        </p:txBody>
      </p:sp>
      <p:sp>
        <p:nvSpPr>
          <p:cNvPr id="7" name="Text 5"/>
          <p:cNvSpPr/>
          <p:nvPr/>
        </p:nvSpPr>
        <p:spPr>
          <a:xfrm>
            <a:off x="548640" y="1417320"/>
            <a:ext cx="7955280" cy="868680"/>
          </a:xfrm>
          <a:prstGeom prst="rect">
            <a:avLst/>
          </a:prstGeom>
          <a:noFill/>
          <a:ln/>
        </p:spPr>
        <p:txBody>
          <a:bodyPr wrap="square" rtlCol="0" anchor="t"/>
          <a:lstStyle/>
          <a:p>
            <a:pPr indent="0" marL="0">
              <a:buNone/>
            </a:pPr>
            <a:r>
              <a:rPr lang="en-US" sz="1280" dirty="0">
                <a:solidFill>
                  <a:srgbClr val="1A202C"/>
                </a:solidFill>
                <a:latin typeface="Calibri" pitchFamily="34" charset="0"/>
                <a:ea typeface="Calibri" pitchFamily="34" charset="-122"/>
                <a:cs typeface="Calibri" pitchFamily="34" charset="-120"/>
              </a:rPr>
              <a:t>An armed officer at a parking facility sees a robber strike a victim, grab a purse, and run. The suspect is now fleeing, unarmed, and no longer threatening the victim.</a:t>
            </a:r>
            <a:endParaRPr lang="en-US" sz="1280" dirty="0"/>
          </a:p>
        </p:txBody>
      </p:sp>
      <p:sp>
        <p:nvSpPr>
          <p:cNvPr id="8" name="Shape 6"/>
          <p:cNvSpPr/>
          <p:nvPr/>
        </p:nvSpPr>
        <p:spPr>
          <a:xfrm>
            <a:off x="365760" y="2697480"/>
            <a:ext cx="8366760" cy="457200"/>
          </a:xfrm>
          <a:prstGeom prst="rect">
            <a:avLst/>
          </a:prstGeom>
          <a:solidFill>
            <a:srgbClr val="0055A5"/>
          </a:solidFill>
          <a:ln w="12700">
            <a:solidFill>
              <a:srgbClr val="0055A5"/>
            </a:solidFill>
            <a:prstDash val="solid"/>
          </a:ln>
        </p:spPr>
      </p:sp>
      <p:sp>
        <p:nvSpPr>
          <p:cNvPr id="9" name="Text 7"/>
          <p:cNvSpPr/>
          <p:nvPr/>
        </p:nvSpPr>
        <p:spPr>
          <a:xfrm>
            <a:off x="530352" y="2752344"/>
            <a:ext cx="8092440" cy="310896"/>
          </a:xfrm>
          <a:prstGeom prst="rect">
            <a:avLst/>
          </a:prstGeom>
          <a:noFill/>
          <a:ln/>
        </p:spPr>
        <p:txBody>
          <a:bodyPr wrap="square" rtlCol="0" anchor="ctr"/>
          <a:lstStyle/>
          <a:p>
            <a:pPr indent="0" marL="0">
              <a:buNone/>
            </a:pPr>
            <a:r>
              <a:rPr lang="en-US" sz="1320" b="1" dirty="0">
                <a:solidFill>
                  <a:srgbClr val="FFFFFF"/>
                </a:solidFill>
              </a:rPr>
              <a:t>Is deadly force justified once the suspect is simply running away with the property?</a:t>
            </a:r>
            <a:endParaRPr lang="en-US" sz="1320" dirty="0"/>
          </a:p>
        </p:txBody>
      </p:sp>
      <p:sp>
        <p:nvSpPr>
          <p:cNvPr id="10" name="Shape 8"/>
          <p:cNvSpPr/>
          <p:nvPr/>
        </p:nvSpPr>
        <p:spPr>
          <a:xfrm>
            <a:off x="365760" y="3337560"/>
            <a:ext cx="8366760" cy="1316736"/>
          </a:xfrm>
          <a:prstGeom prst="roundRect">
            <a:avLst>
              <a:gd name="adj" fmla="val 2778"/>
            </a:avLst>
          </a:prstGeom>
          <a:solidFill>
            <a:srgbClr val="DCFCE7"/>
          </a:solidFill>
          <a:ln w="12700">
            <a:solidFill>
              <a:srgbClr val="86EFAC"/>
            </a:solidFill>
            <a:prstDash val="solid"/>
          </a:ln>
        </p:spPr>
      </p:sp>
      <p:sp>
        <p:nvSpPr>
          <p:cNvPr id="11" name="Text 9"/>
          <p:cNvSpPr/>
          <p:nvPr/>
        </p:nvSpPr>
        <p:spPr>
          <a:xfrm>
            <a:off x="530352" y="3474720"/>
            <a:ext cx="1005840" cy="164592"/>
          </a:xfrm>
          <a:prstGeom prst="rect">
            <a:avLst/>
          </a:prstGeom>
          <a:noFill/>
          <a:ln/>
        </p:spPr>
        <p:txBody>
          <a:bodyPr wrap="square" rtlCol="0" anchor="ctr"/>
          <a:lstStyle/>
          <a:p>
            <a:pPr indent="0" marL="0">
              <a:buNone/>
            </a:pPr>
            <a:r>
              <a:rPr lang="en-US" sz="900" b="1" spc="100" kern="0" dirty="0">
                <a:solidFill>
                  <a:srgbClr val="166534"/>
                </a:solidFill>
              </a:rPr>
              <a:t>ANALYSIS</a:t>
            </a:r>
            <a:endParaRPr lang="en-US" sz="900" dirty="0"/>
          </a:p>
        </p:txBody>
      </p:sp>
      <p:sp>
        <p:nvSpPr>
          <p:cNvPr id="12" name="Text 10"/>
          <p:cNvSpPr/>
          <p:nvPr/>
        </p:nvSpPr>
        <p:spPr>
          <a:xfrm>
            <a:off x="530352" y="3703320"/>
            <a:ext cx="7973568" cy="786384"/>
          </a:xfrm>
          <a:prstGeom prst="rect">
            <a:avLst/>
          </a:prstGeom>
          <a:noFill/>
          <a:ln/>
        </p:spPr>
        <p:txBody>
          <a:bodyPr wrap="square" rtlCol="0" anchor="t"/>
          <a:lstStyle/>
          <a:p>
            <a:pPr indent="0" marL="0">
              <a:buNone/>
            </a:pPr>
            <a:r>
              <a:rPr lang="en-US" sz="1220" dirty="0">
                <a:solidFill>
                  <a:srgbClr val="166534"/>
                </a:solidFill>
                <a:latin typeface="Calibri" pitchFamily="34" charset="0"/>
                <a:ea typeface="Calibri" pitchFamily="34" charset="-122"/>
                <a:cs typeface="Calibri" pitchFamily="34" charset="-120"/>
              </a:rPr>
              <a:t>No. Once the imminent threat to life or great bodily harm has ended, deadly force is no longer justified. The officer should secure the scene, call 911, protect witnesses, and aid the victim.</a:t>
            </a:r>
            <a:endParaRPr lang="en-US" sz="1220" dirty="0"/>
          </a:p>
        </p:txBody>
      </p:sp>
      <p:sp>
        <p:nvSpPr>
          <p:cNvPr id="13" name="Shape 11"/>
          <p:cNvSpPr/>
          <p:nvPr/>
        </p:nvSpPr>
        <p:spPr>
          <a:xfrm>
            <a:off x="0" y="4919472"/>
            <a:ext cx="9144000" cy="224028"/>
          </a:xfrm>
          <a:prstGeom prst="rect">
            <a:avLst/>
          </a:prstGeom>
          <a:solidFill>
            <a:srgbClr val="E8ECF2"/>
          </a:solidFill>
          <a:ln w="12700">
            <a:solidFill>
              <a:srgbClr val="E8ECF2"/>
            </a:solidFill>
            <a:prstDash val="solid"/>
          </a:ln>
        </p:spPr>
      </p:sp>
      <p:sp>
        <p:nvSpPr>
          <p:cNvPr id="14" name="Text 12"/>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B7A"/>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C8A951"/>
          </a:solidFill>
          <a:ln w="12700">
            <a:solidFill>
              <a:srgbClr val="C8A951"/>
            </a:solidFill>
            <a:prstDash val="solid"/>
          </a:ln>
        </p:spPr>
      </p:sp>
      <p:sp>
        <p:nvSpPr>
          <p:cNvPr id="3" name="Shape 1"/>
          <p:cNvSpPr/>
          <p:nvPr/>
        </p:nvSpPr>
        <p:spPr>
          <a:xfrm>
            <a:off x="0" y="5061204"/>
            <a:ext cx="9144000" cy="82296"/>
          </a:xfrm>
          <a:prstGeom prst="rect">
            <a:avLst/>
          </a:prstGeom>
          <a:solidFill>
            <a:srgbClr val="C8A951"/>
          </a:solidFill>
          <a:ln w="12700">
            <a:solidFill>
              <a:srgbClr val="C8A951"/>
            </a:solidFill>
            <a:prstDash val="solid"/>
          </a:ln>
        </p:spPr>
      </p:sp>
      <p:sp>
        <p:nvSpPr>
          <p:cNvPr id="4" name="Shape 2"/>
          <p:cNvSpPr/>
          <p:nvPr/>
        </p:nvSpPr>
        <p:spPr>
          <a:xfrm>
            <a:off x="548640" y="1234440"/>
            <a:ext cx="1188720" cy="1188720"/>
          </a:xfrm>
          <a:prstGeom prst="ellipse">
            <a:avLst/>
          </a:prstGeom>
          <a:solidFill>
            <a:srgbClr val="C8A951"/>
          </a:solidFill>
          <a:ln w="12700">
            <a:solidFill>
              <a:srgbClr val="C8A951"/>
            </a:solidFill>
            <a:prstDash val="solid"/>
          </a:ln>
        </p:spPr>
      </p:sp>
      <p:sp>
        <p:nvSpPr>
          <p:cNvPr id="5" name="Text 3"/>
          <p:cNvSpPr/>
          <p:nvPr/>
        </p:nvSpPr>
        <p:spPr>
          <a:xfrm>
            <a:off x="548640" y="1234440"/>
            <a:ext cx="1188720" cy="1188720"/>
          </a:xfrm>
          <a:prstGeom prst="rect">
            <a:avLst/>
          </a:prstGeom>
          <a:noFill/>
          <a:ln/>
        </p:spPr>
        <p:txBody>
          <a:bodyPr wrap="square" lIns="0" tIns="0" rIns="0" bIns="0" rtlCol="0" anchor="ctr"/>
          <a:lstStyle/>
          <a:p>
            <a:pPr algn="ctr" indent="0" marL="0">
              <a:buNone/>
            </a:pPr>
            <a:r>
              <a:rPr lang="en-US" sz="3400" b="1" dirty="0">
                <a:solidFill>
                  <a:srgbClr val="002147"/>
                </a:solidFill>
              </a:rPr>
              <a:t>1.4</a:t>
            </a:r>
            <a:endParaRPr lang="en-US" sz="3400" dirty="0"/>
          </a:p>
        </p:txBody>
      </p:sp>
      <p:sp>
        <p:nvSpPr>
          <p:cNvPr id="6" name="Text 4"/>
          <p:cNvSpPr/>
          <p:nvPr/>
        </p:nvSpPr>
        <p:spPr>
          <a:xfrm>
            <a:off x="2011680" y="1325880"/>
            <a:ext cx="6400800" cy="219456"/>
          </a:xfrm>
          <a:prstGeom prst="rect">
            <a:avLst/>
          </a:prstGeom>
          <a:noFill/>
          <a:ln/>
        </p:spPr>
        <p:txBody>
          <a:bodyPr wrap="square" rtlCol="0" anchor="ctr"/>
          <a:lstStyle/>
          <a:p>
            <a:pPr indent="0" marL="0">
              <a:buNone/>
            </a:pPr>
            <a:r>
              <a:rPr lang="en-US" sz="1200" b="1" spc="300" kern="0" dirty="0">
                <a:solidFill>
                  <a:srgbClr val="E8CC78"/>
                </a:solidFill>
              </a:rPr>
              <a:t>SECTION</a:t>
            </a:r>
            <a:endParaRPr lang="en-US" sz="1200" dirty="0"/>
          </a:p>
        </p:txBody>
      </p:sp>
      <p:sp>
        <p:nvSpPr>
          <p:cNvPr id="7" name="Text 5"/>
          <p:cNvSpPr/>
          <p:nvPr/>
        </p:nvSpPr>
        <p:spPr>
          <a:xfrm>
            <a:off x="2011680" y="1645920"/>
            <a:ext cx="5029200" cy="10972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Incident Scene &amp;</a:t>
            </a:r>
            <a:endParaRPr lang="en-US" sz="2800" dirty="0"/>
          </a:p>
          <a:p>
            <a:pPr indent="0" marL="0">
              <a:buNone/>
            </a:pPr>
            <a:r>
              <a:rPr lang="en-US" sz="2800" b="1" dirty="0">
                <a:solidFill>
                  <a:srgbClr val="FFFFFF"/>
                </a:solidFill>
                <a:latin typeface="Georgia" pitchFamily="34" charset="0"/>
                <a:ea typeface="Georgia" pitchFamily="34" charset="-122"/>
                <a:cs typeface="Georgia" pitchFamily="34" charset="-120"/>
              </a:rPr>
              <a:t>Evidence Preservation</a:t>
            </a:r>
            <a:endParaRPr lang="en-US" sz="2800" dirty="0"/>
          </a:p>
        </p:txBody>
      </p:sp>
      <p:sp>
        <p:nvSpPr>
          <p:cNvPr id="8" name="Shape 6"/>
          <p:cNvSpPr/>
          <p:nvPr/>
        </p:nvSpPr>
        <p:spPr>
          <a:xfrm>
            <a:off x="2011680" y="2971800"/>
            <a:ext cx="1508760" cy="365760"/>
          </a:xfrm>
          <a:prstGeom prst="roundRect">
            <a:avLst>
              <a:gd name="adj" fmla="val 12500"/>
            </a:avLst>
          </a:prstGeom>
          <a:solidFill>
            <a:srgbClr val="0055A5"/>
          </a:solidFill>
          <a:ln w="12700">
            <a:solidFill>
              <a:srgbClr val="0055A5"/>
            </a:solidFill>
            <a:prstDash val="solid"/>
          </a:ln>
        </p:spPr>
      </p:sp>
      <p:sp>
        <p:nvSpPr>
          <p:cNvPr id="9" name="Text 7"/>
          <p:cNvSpPr/>
          <p:nvPr/>
        </p:nvSpPr>
        <p:spPr>
          <a:xfrm>
            <a:off x="2011680" y="2971800"/>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rPr>
              <a:t>~45 min</a:t>
            </a:r>
            <a:endParaRPr lang="en-US" sz="1100" dirty="0"/>
          </a:p>
        </p:txBody>
      </p:sp>
      <p:pic>
        <p:nvPicPr>
          <p:cNvPr id="10" name="Image 0" descr="preencoded.png">    </p:cNvPr>
          <p:cNvPicPr>
            <a:picLocks noChangeAspect="1"/>
          </p:cNvPicPr>
          <p:nvPr/>
        </p:nvPicPr>
        <p:blipFill>
          <a:blip r:embed="rId1"/>
          <a:stretch>
            <a:fillRect/>
          </a:stretch>
        </p:blipFill>
        <p:spPr>
          <a:xfrm>
            <a:off x="7223760" y="2560320"/>
            <a:ext cx="1143000" cy="1143000"/>
          </a:xfrm>
          <a:prstGeom prst="rect">
            <a:avLst/>
          </a:prstGeom>
        </p:spPr>
      </p:pic>
      <p:sp>
        <p:nvSpPr>
          <p:cNvPr id="11" name="Text 8"/>
          <p:cNvSpPr/>
          <p:nvPr/>
        </p:nvSpPr>
        <p:spPr>
          <a:xfrm>
            <a:off x="411480" y="4736592"/>
            <a:ext cx="8321040" cy="201168"/>
          </a:xfrm>
          <a:prstGeom prst="rect">
            <a:avLst/>
          </a:prstGeom>
          <a:noFill/>
          <a:ln/>
        </p:spPr>
        <p:txBody>
          <a:bodyPr wrap="square" rtlCol="0" anchor="ctr"/>
          <a:lstStyle/>
          <a:p>
            <a:pPr algn="ctr" indent="0" marL="0">
              <a:buNone/>
            </a:pPr>
            <a:r>
              <a:rPr lang="en-US" sz="850" dirty="0">
                <a:solidFill>
                  <a:srgbClr val="AAB7D0"/>
                </a:solidFill>
              </a:rPr>
              <a:t>Module 1 | Legal Aspects of Private Security | VAS Security Academy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First Responder Duties at the Scene</a:t>
            </a:r>
            <a:endParaRPr lang="en-US" sz="2200" dirty="0"/>
          </a:p>
        </p:txBody>
      </p:sp>
      <p:sp>
        <p:nvSpPr>
          <p:cNvPr id="5" name="Text 3"/>
          <p:cNvSpPr/>
          <p:nvPr/>
        </p:nvSpPr>
        <p:spPr>
          <a:xfrm>
            <a:off x="411480" y="1097280"/>
            <a:ext cx="8275320" cy="3703320"/>
          </a:xfrm>
          <a:prstGeom prst="rect">
            <a:avLst/>
          </a:prstGeom>
          <a:noFill/>
          <a:ln/>
        </p:spPr>
        <p:txBody>
          <a:bodyPr wrap="square" rtlCol="0" anchor="t"/>
          <a:lstStyle/>
          <a:p>
            <a:pPr indent="0" marL="0">
              <a:buNone/>
            </a:pPr>
            <a:r>
              <a:rPr lang="en-US" sz="1500" b="1" dirty="0">
                <a:solidFill>
                  <a:srgbClr val="002147"/>
                </a:solidFill>
                <a:latin typeface="Calibri" pitchFamily="34" charset="0"/>
                <a:ea typeface="Calibri" pitchFamily="34" charset="-122"/>
                <a:cs typeface="Calibri" pitchFamily="34" charset="-120"/>
              </a:rPr>
              <a:t>Your priorities on arrival</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Protect your own safety first and assess whether the threat is still active.</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Call law enforcement and emergency medical services immediately.</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Render aid within your training level, including CPR, first aid, or AED support if appropriate.</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Establish a perimeter to keep unauthorized people out and preserve the scene.</a:t>
            </a:r>
            <a:endParaRPr lang="en-US" sz="1500" dirty="0"/>
          </a:p>
          <a:p>
            <a:pPr indent="0" marL="0">
              <a:buNone/>
            </a:pPr>
            <a:endParaRPr lang="en-US" sz="1500" dirty="0"/>
          </a:p>
          <a:p>
            <a:pPr indent="0" marL="0">
              <a:buNone/>
            </a:pPr>
            <a:r>
              <a:rPr lang="en-US" sz="1500" b="1" dirty="0">
                <a:solidFill>
                  <a:srgbClr val="002147"/>
                </a:solidFill>
                <a:latin typeface="Calibri" pitchFamily="34" charset="0"/>
                <a:ea typeface="Calibri" pitchFamily="34" charset="-122"/>
                <a:cs typeface="Calibri" pitchFamily="34" charset="-120"/>
              </a:rPr>
              <a:t>Evidence preservation</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Do not move, pick up, or handle evidence unless required to save a life.</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Record times, observations, witness names, and changes to the scene.</a:t>
            </a:r>
            <a:endParaRPr lang="en-US" sz="1500" dirty="0"/>
          </a:p>
          <a:p>
            <a:pPr marL="342900" indent="-342900">
              <a:buSzPct val="100000"/>
              <a:buChar char="•"/>
            </a:pPr>
            <a:r>
              <a:rPr lang="en-US" sz="1400" b="1" dirty="0">
                <a:solidFill>
                  <a:srgbClr val="1A202C"/>
                </a:solidFill>
                <a:latin typeface="Calibri" pitchFamily="34" charset="0"/>
                <a:ea typeface="Calibri" pitchFamily="34" charset="-122"/>
                <a:cs typeface="Calibri" pitchFamily="34" charset="-120"/>
              </a:rPr>
              <a:t>A broken chain of custody can make evidence unusable in court.</a:t>
            </a:r>
            <a:endParaRPr lang="en-US" sz="1500" dirty="0"/>
          </a:p>
        </p:txBody>
      </p:sp>
      <p:sp>
        <p:nvSpPr>
          <p:cNvPr id="6" name="Shape 4"/>
          <p:cNvSpPr/>
          <p:nvPr/>
        </p:nvSpPr>
        <p:spPr>
          <a:xfrm>
            <a:off x="0" y="4919472"/>
            <a:ext cx="9144000" cy="224028"/>
          </a:xfrm>
          <a:prstGeom prst="rect">
            <a:avLst/>
          </a:prstGeom>
          <a:solidFill>
            <a:srgbClr val="E8ECF2"/>
          </a:solidFill>
          <a:ln w="12700">
            <a:solidFill>
              <a:srgbClr val="E8ECF2"/>
            </a:solidFill>
            <a:prstDash val="solid"/>
          </a:ln>
        </p:spPr>
      </p:sp>
      <p:sp>
        <p:nvSpPr>
          <p:cNvPr id="7" name="Text 5"/>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B7A"/>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C8A951"/>
          </a:solidFill>
          <a:ln w="12700">
            <a:solidFill>
              <a:srgbClr val="C8A951"/>
            </a:solidFill>
            <a:prstDash val="solid"/>
          </a:ln>
        </p:spPr>
      </p:sp>
      <p:sp>
        <p:nvSpPr>
          <p:cNvPr id="3" name="Shape 1"/>
          <p:cNvSpPr/>
          <p:nvPr/>
        </p:nvSpPr>
        <p:spPr>
          <a:xfrm>
            <a:off x="0" y="5061204"/>
            <a:ext cx="9144000" cy="82296"/>
          </a:xfrm>
          <a:prstGeom prst="rect">
            <a:avLst/>
          </a:prstGeom>
          <a:solidFill>
            <a:srgbClr val="C8A951"/>
          </a:solidFill>
          <a:ln w="12700">
            <a:solidFill>
              <a:srgbClr val="C8A951"/>
            </a:solidFill>
            <a:prstDash val="solid"/>
          </a:ln>
        </p:spPr>
      </p:sp>
      <p:sp>
        <p:nvSpPr>
          <p:cNvPr id="4" name="Shape 2"/>
          <p:cNvSpPr/>
          <p:nvPr/>
        </p:nvSpPr>
        <p:spPr>
          <a:xfrm>
            <a:off x="548640" y="1234440"/>
            <a:ext cx="1188720" cy="1188720"/>
          </a:xfrm>
          <a:prstGeom prst="ellipse">
            <a:avLst/>
          </a:prstGeom>
          <a:solidFill>
            <a:srgbClr val="C8A951"/>
          </a:solidFill>
          <a:ln w="12700">
            <a:solidFill>
              <a:srgbClr val="C8A951"/>
            </a:solidFill>
            <a:prstDash val="solid"/>
          </a:ln>
        </p:spPr>
      </p:sp>
      <p:sp>
        <p:nvSpPr>
          <p:cNvPr id="5" name="Text 3"/>
          <p:cNvSpPr/>
          <p:nvPr/>
        </p:nvSpPr>
        <p:spPr>
          <a:xfrm>
            <a:off x="548640" y="1234440"/>
            <a:ext cx="1188720" cy="1188720"/>
          </a:xfrm>
          <a:prstGeom prst="rect">
            <a:avLst/>
          </a:prstGeom>
          <a:noFill/>
          <a:ln/>
        </p:spPr>
        <p:txBody>
          <a:bodyPr wrap="square" lIns="0" tIns="0" rIns="0" bIns="0" rtlCol="0" anchor="ctr"/>
          <a:lstStyle/>
          <a:p>
            <a:pPr algn="ctr" indent="0" marL="0">
              <a:buNone/>
            </a:pPr>
            <a:r>
              <a:rPr lang="en-US" sz="3400" b="1" dirty="0">
                <a:solidFill>
                  <a:srgbClr val="002147"/>
                </a:solidFill>
              </a:rPr>
              <a:t>1.5</a:t>
            </a:r>
            <a:endParaRPr lang="en-US" sz="3400" dirty="0"/>
          </a:p>
        </p:txBody>
      </p:sp>
      <p:sp>
        <p:nvSpPr>
          <p:cNvPr id="6" name="Text 4"/>
          <p:cNvSpPr/>
          <p:nvPr/>
        </p:nvSpPr>
        <p:spPr>
          <a:xfrm>
            <a:off x="2011680" y="1325880"/>
            <a:ext cx="6400800" cy="219456"/>
          </a:xfrm>
          <a:prstGeom prst="rect">
            <a:avLst/>
          </a:prstGeom>
          <a:noFill/>
          <a:ln/>
        </p:spPr>
        <p:txBody>
          <a:bodyPr wrap="square" rtlCol="0" anchor="ctr"/>
          <a:lstStyle/>
          <a:p>
            <a:pPr indent="0" marL="0">
              <a:buNone/>
            </a:pPr>
            <a:r>
              <a:rPr lang="en-US" sz="1200" b="1" spc="300" kern="0" dirty="0">
                <a:solidFill>
                  <a:srgbClr val="E8CC78"/>
                </a:solidFill>
              </a:rPr>
              <a:t>SECTION</a:t>
            </a:r>
            <a:endParaRPr lang="en-US" sz="1200" dirty="0"/>
          </a:p>
        </p:txBody>
      </p:sp>
      <p:sp>
        <p:nvSpPr>
          <p:cNvPr id="7" name="Text 5"/>
          <p:cNvSpPr/>
          <p:nvPr/>
        </p:nvSpPr>
        <p:spPr>
          <a:xfrm>
            <a:off x="2011680" y="1645920"/>
            <a:ext cx="5029200" cy="10972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Court Testimony</a:t>
            </a:r>
            <a:endParaRPr lang="en-US" sz="2800" dirty="0"/>
          </a:p>
        </p:txBody>
      </p:sp>
      <p:sp>
        <p:nvSpPr>
          <p:cNvPr id="8" name="Shape 6"/>
          <p:cNvSpPr/>
          <p:nvPr/>
        </p:nvSpPr>
        <p:spPr>
          <a:xfrm>
            <a:off x="2011680" y="2971800"/>
            <a:ext cx="1508760" cy="365760"/>
          </a:xfrm>
          <a:prstGeom prst="roundRect">
            <a:avLst>
              <a:gd name="adj" fmla="val 12500"/>
            </a:avLst>
          </a:prstGeom>
          <a:solidFill>
            <a:srgbClr val="0055A5"/>
          </a:solidFill>
          <a:ln w="12700">
            <a:solidFill>
              <a:srgbClr val="0055A5"/>
            </a:solidFill>
            <a:prstDash val="solid"/>
          </a:ln>
        </p:spPr>
      </p:sp>
      <p:sp>
        <p:nvSpPr>
          <p:cNvPr id="9" name="Text 7"/>
          <p:cNvSpPr/>
          <p:nvPr/>
        </p:nvSpPr>
        <p:spPr>
          <a:xfrm>
            <a:off x="2011680" y="2971800"/>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rPr>
              <a:t>~30 min</a:t>
            </a:r>
            <a:endParaRPr lang="en-US" sz="1100" dirty="0"/>
          </a:p>
        </p:txBody>
      </p:sp>
      <p:pic>
        <p:nvPicPr>
          <p:cNvPr id="10" name="Image 0" descr="preencoded.png">    </p:cNvPr>
          <p:cNvPicPr>
            <a:picLocks noChangeAspect="1"/>
          </p:cNvPicPr>
          <p:nvPr/>
        </p:nvPicPr>
        <p:blipFill>
          <a:blip r:embed="rId1"/>
          <a:stretch>
            <a:fillRect/>
          </a:stretch>
        </p:blipFill>
        <p:spPr>
          <a:xfrm>
            <a:off x="7223760" y="2560320"/>
            <a:ext cx="1143000" cy="1143000"/>
          </a:xfrm>
          <a:prstGeom prst="rect">
            <a:avLst/>
          </a:prstGeom>
        </p:spPr>
      </p:pic>
      <p:sp>
        <p:nvSpPr>
          <p:cNvPr id="11" name="Text 8"/>
          <p:cNvSpPr/>
          <p:nvPr/>
        </p:nvSpPr>
        <p:spPr>
          <a:xfrm>
            <a:off x="411480" y="4736592"/>
            <a:ext cx="8321040" cy="201168"/>
          </a:xfrm>
          <a:prstGeom prst="rect">
            <a:avLst/>
          </a:prstGeom>
          <a:noFill/>
          <a:ln/>
        </p:spPr>
        <p:txBody>
          <a:bodyPr wrap="square" rtlCol="0" anchor="ctr"/>
          <a:lstStyle/>
          <a:p>
            <a:pPr algn="ctr" indent="0" marL="0">
              <a:buNone/>
            </a:pPr>
            <a:r>
              <a:rPr lang="en-US" sz="850" dirty="0">
                <a:solidFill>
                  <a:srgbClr val="AAB7D0"/>
                </a:solidFill>
              </a:rPr>
              <a:t>Module 1 | Legal Aspects of Private Security | VAS Security Academy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Professional Testimony &amp; Courtroom Demeanor</a:t>
            </a:r>
            <a:endParaRPr lang="en-US" sz="2200" dirty="0"/>
          </a:p>
        </p:txBody>
      </p:sp>
      <p:sp>
        <p:nvSpPr>
          <p:cNvPr id="5" name="Text 3"/>
          <p:cNvSpPr/>
          <p:nvPr/>
        </p:nvSpPr>
        <p:spPr>
          <a:xfrm>
            <a:off x="411480" y="1097280"/>
            <a:ext cx="8275320" cy="3703320"/>
          </a:xfrm>
          <a:prstGeom prst="rect">
            <a:avLst/>
          </a:prstGeom>
          <a:noFill/>
          <a:ln/>
        </p:spPr>
        <p:txBody>
          <a:bodyPr wrap="square" rtlCol="0" anchor="t"/>
          <a:lstStyle/>
          <a:p>
            <a:pPr indent="0" marL="0">
              <a:buNone/>
            </a:pPr>
            <a:r>
              <a:rPr lang="en-US" sz="1500" b="1" dirty="0">
                <a:solidFill>
                  <a:srgbClr val="002147"/>
                </a:solidFill>
                <a:latin typeface="Calibri" pitchFamily="34" charset="0"/>
                <a:ea typeface="Calibri" pitchFamily="34" charset="-122"/>
                <a:cs typeface="Calibri" pitchFamily="34" charset="-120"/>
              </a:rPr>
              <a:t>Preparation</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Review incident reports, notes, logs, and exhibits before appearing.</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Understand whether you are appearing for a criminal case, civil case, or administrative hearing.</a:t>
            </a:r>
            <a:endParaRPr lang="en-US" sz="1500" dirty="0"/>
          </a:p>
          <a:p>
            <a:pPr indent="0" marL="0">
              <a:buNone/>
            </a:pPr>
            <a:endParaRPr lang="en-US" sz="1500" dirty="0"/>
          </a:p>
          <a:p>
            <a:pPr indent="0" marL="0">
              <a:buNone/>
            </a:pPr>
            <a:r>
              <a:rPr lang="en-US" sz="1500" b="1" dirty="0">
                <a:solidFill>
                  <a:srgbClr val="002147"/>
                </a:solidFill>
                <a:latin typeface="Calibri" pitchFamily="34" charset="0"/>
                <a:ea typeface="Calibri" pitchFamily="34" charset="-122"/>
                <a:cs typeface="Calibri" pitchFamily="34" charset="-120"/>
              </a:rPr>
              <a:t>On the stand</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Tell the truth, answer only the question asked, and never guess.</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If you do not know or do not recall, say so honestly.</a:t>
            </a:r>
            <a:endParaRPr lang="en-US" sz="1500" dirty="0"/>
          </a:p>
          <a:p>
            <a:pPr marL="342900" indent="-342900">
              <a:buSzPct val="100000"/>
              <a:buChar char="•"/>
            </a:pPr>
            <a:r>
              <a:rPr lang="en-US" sz="1400" dirty="0">
                <a:solidFill>
                  <a:srgbClr val="1A202C"/>
                </a:solidFill>
                <a:latin typeface="Calibri" pitchFamily="34" charset="0"/>
                <a:ea typeface="Calibri" pitchFamily="34" charset="-122"/>
                <a:cs typeface="Calibri" pitchFamily="34" charset="-120"/>
              </a:rPr>
              <a:t>Speak clearly, stay calm under cross-examination, and maintain professional appearance.</a:t>
            </a:r>
            <a:endParaRPr lang="en-US" sz="1500" dirty="0"/>
          </a:p>
          <a:p>
            <a:pPr marL="342900" indent="-342900">
              <a:buSzPct val="100000"/>
              <a:buChar char="•"/>
            </a:pPr>
            <a:r>
              <a:rPr lang="en-US" sz="1400" b="1" dirty="0">
                <a:solidFill>
                  <a:srgbClr val="1A202C"/>
                </a:solidFill>
                <a:latin typeface="Calibri" pitchFamily="34" charset="0"/>
                <a:ea typeface="Calibri" pitchFamily="34" charset="-122"/>
                <a:cs typeface="Calibri" pitchFamily="34" charset="-120"/>
              </a:rPr>
              <a:t>Depositions are sworn testimony too; false statements can amount to perjury.</a:t>
            </a:r>
            <a:endParaRPr lang="en-US" sz="1500" dirty="0"/>
          </a:p>
        </p:txBody>
      </p:sp>
      <p:sp>
        <p:nvSpPr>
          <p:cNvPr id="6" name="Shape 4"/>
          <p:cNvSpPr/>
          <p:nvPr/>
        </p:nvSpPr>
        <p:spPr>
          <a:xfrm>
            <a:off x="0" y="4919472"/>
            <a:ext cx="9144000" cy="224028"/>
          </a:xfrm>
          <a:prstGeom prst="rect">
            <a:avLst/>
          </a:prstGeom>
          <a:solidFill>
            <a:srgbClr val="E8ECF2"/>
          </a:solidFill>
          <a:ln w="12700">
            <a:solidFill>
              <a:srgbClr val="E8ECF2"/>
            </a:solidFill>
            <a:prstDash val="solid"/>
          </a:ln>
        </p:spPr>
      </p:sp>
      <p:sp>
        <p:nvSpPr>
          <p:cNvPr id="7" name="Text 5"/>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2147"/>
          </a:solidFill>
          <a:ln w="12700">
            <a:solidFill>
              <a:srgbClr val="002147"/>
            </a:solidFill>
            <a:prstDash val="solid"/>
          </a:ln>
        </p:spPr>
      </p:sp>
      <p:sp>
        <p:nvSpPr>
          <p:cNvPr id="3" name="Shape 1"/>
          <p:cNvSpPr/>
          <p:nvPr/>
        </p:nvSpPr>
        <p:spPr>
          <a:xfrm>
            <a:off x="0" y="0"/>
            <a:ext cx="128016" cy="5143500"/>
          </a:xfrm>
          <a:prstGeom prst="rect">
            <a:avLst/>
          </a:prstGeom>
          <a:solidFill>
            <a:srgbClr val="C8A951"/>
          </a:solidFill>
          <a:ln w="12700">
            <a:solidFill>
              <a:srgbClr val="C8A951"/>
            </a:solidFill>
            <a:prstDash val="solid"/>
          </a:ln>
        </p:spPr>
      </p:sp>
      <p:sp>
        <p:nvSpPr>
          <p:cNvPr id="4" name="Text 2"/>
          <p:cNvSpPr/>
          <p:nvPr/>
        </p:nvSpPr>
        <p:spPr>
          <a:xfrm>
            <a:off x="365760" y="109728"/>
            <a:ext cx="8321040" cy="7315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Quick Reference — Key Statutes &amp; Rules</a:t>
            </a:r>
            <a:endParaRPr lang="en-US" sz="2200" dirty="0"/>
          </a:p>
        </p:txBody>
      </p:sp>
      <p:sp>
        <p:nvSpPr>
          <p:cNvPr id="5" name="Shape 3"/>
          <p:cNvSpPr/>
          <p:nvPr/>
        </p:nvSpPr>
        <p:spPr>
          <a:xfrm>
            <a:off x="365760" y="1115568"/>
            <a:ext cx="4069080" cy="530352"/>
          </a:xfrm>
          <a:prstGeom prst="roundRect">
            <a:avLst>
              <a:gd name="adj" fmla="val 5172"/>
            </a:avLst>
          </a:prstGeom>
          <a:solidFill>
            <a:srgbClr val="F4F6FA"/>
          </a:solidFill>
          <a:ln w="6350">
            <a:solidFill>
              <a:srgbClr val="E8ECF2"/>
            </a:solidFill>
            <a:prstDash val="solid"/>
          </a:ln>
        </p:spPr>
      </p:sp>
      <p:sp>
        <p:nvSpPr>
          <p:cNvPr id="6" name="Shape 4"/>
          <p:cNvSpPr/>
          <p:nvPr/>
        </p:nvSpPr>
        <p:spPr>
          <a:xfrm>
            <a:off x="365760" y="1115568"/>
            <a:ext cx="1097280" cy="530352"/>
          </a:xfrm>
          <a:prstGeom prst="rect">
            <a:avLst/>
          </a:prstGeom>
          <a:solidFill>
            <a:srgbClr val="002147"/>
          </a:solidFill>
          <a:ln w="12700">
            <a:solidFill>
              <a:srgbClr val="002147"/>
            </a:solidFill>
            <a:prstDash val="solid"/>
          </a:ln>
        </p:spPr>
      </p:sp>
      <p:sp>
        <p:nvSpPr>
          <p:cNvPr id="7" name="Text 5"/>
          <p:cNvSpPr/>
          <p:nvPr/>
        </p:nvSpPr>
        <p:spPr>
          <a:xfrm>
            <a:off x="365760" y="111556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493.6100</a:t>
            </a:r>
            <a:endParaRPr lang="en-US" sz="1000" dirty="0"/>
          </a:p>
        </p:txBody>
      </p:sp>
      <p:sp>
        <p:nvSpPr>
          <p:cNvPr id="8" name="Text 6"/>
          <p:cNvSpPr/>
          <p:nvPr/>
        </p:nvSpPr>
        <p:spPr>
          <a:xfrm>
            <a:off x="1536192" y="1188720"/>
            <a:ext cx="2743200" cy="347472"/>
          </a:xfrm>
          <a:prstGeom prst="rect">
            <a:avLst/>
          </a:prstGeom>
          <a:noFill/>
          <a:ln/>
        </p:spPr>
        <p:txBody>
          <a:bodyPr wrap="square" rtlCol="0" anchor="ctr"/>
          <a:lstStyle/>
          <a:p>
            <a:pPr indent="0" marL="0">
              <a:buNone/>
            </a:pPr>
            <a:r>
              <a:rPr lang="en-US" sz="1180" dirty="0">
                <a:solidFill>
                  <a:srgbClr val="1A202C"/>
                </a:solidFill>
              </a:rPr>
              <a:t>Legislative intent</a:t>
            </a:r>
            <a:endParaRPr lang="en-US" sz="1180" dirty="0"/>
          </a:p>
        </p:txBody>
      </p:sp>
      <p:sp>
        <p:nvSpPr>
          <p:cNvPr id="9" name="Shape 7"/>
          <p:cNvSpPr/>
          <p:nvPr/>
        </p:nvSpPr>
        <p:spPr>
          <a:xfrm>
            <a:off x="4663440" y="1115568"/>
            <a:ext cx="4069080" cy="530352"/>
          </a:xfrm>
          <a:prstGeom prst="roundRect">
            <a:avLst>
              <a:gd name="adj" fmla="val 5172"/>
            </a:avLst>
          </a:prstGeom>
          <a:solidFill>
            <a:srgbClr val="F4F6FA"/>
          </a:solidFill>
          <a:ln w="6350">
            <a:solidFill>
              <a:srgbClr val="E8ECF2"/>
            </a:solidFill>
            <a:prstDash val="solid"/>
          </a:ln>
        </p:spPr>
      </p:sp>
      <p:sp>
        <p:nvSpPr>
          <p:cNvPr id="10" name="Shape 8"/>
          <p:cNvSpPr/>
          <p:nvPr/>
        </p:nvSpPr>
        <p:spPr>
          <a:xfrm>
            <a:off x="4663440" y="1115568"/>
            <a:ext cx="1097280" cy="530352"/>
          </a:xfrm>
          <a:prstGeom prst="rect">
            <a:avLst/>
          </a:prstGeom>
          <a:solidFill>
            <a:srgbClr val="002147"/>
          </a:solidFill>
          <a:ln w="12700">
            <a:solidFill>
              <a:srgbClr val="002147"/>
            </a:solidFill>
            <a:prstDash val="solid"/>
          </a:ln>
        </p:spPr>
      </p:sp>
      <p:sp>
        <p:nvSpPr>
          <p:cNvPr id="11" name="Text 9"/>
          <p:cNvSpPr/>
          <p:nvPr/>
        </p:nvSpPr>
        <p:spPr>
          <a:xfrm>
            <a:off x="4663440" y="111556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493.6105</a:t>
            </a:r>
            <a:endParaRPr lang="en-US" sz="1000" dirty="0"/>
          </a:p>
        </p:txBody>
      </p:sp>
      <p:sp>
        <p:nvSpPr>
          <p:cNvPr id="12" name="Text 10"/>
          <p:cNvSpPr/>
          <p:nvPr/>
        </p:nvSpPr>
        <p:spPr>
          <a:xfrm>
            <a:off x="5833872" y="1188720"/>
            <a:ext cx="2743200" cy="347472"/>
          </a:xfrm>
          <a:prstGeom prst="rect">
            <a:avLst/>
          </a:prstGeom>
          <a:noFill/>
          <a:ln/>
        </p:spPr>
        <p:txBody>
          <a:bodyPr wrap="square" rtlCol="0" anchor="ctr"/>
          <a:lstStyle/>
          <a:p>
            <a:pPr indent="0" marL="0">
              <a:buNone/>
            </a:pPr>
            <a:r>
              <a:rPr lang="en-US" sz="1180" dirty="0">
                <a:solidFill>
                  <a:srgbClr val="1A202C"/>
                </a:solidFill>
              </a:rPr>
              <a:t>Initial application for licensure</a:t>
            </a:r>
            <a:endParaRPr lang="en-US" sz="1180" dirty="0"/>
          </a:p>
        </p:txBody>
      </p:sp>
      <p:sp>
        <p:nvSpPr>
          <p:cNvPr id="13" name="Shape 11"/>
          <p:cNvSpPr/>
          <p:nvPr/>
        </p:nvSpPr>
        <p:spPr>
          <a:xfrm>
            <a:off x="365760" y="1755648"/>
            <a:ext cx="4069080" cy="530352"/>
          </a:xfrm>
          <a:prstGeom prst="roundRect">
            <a:avLst>
              <a:gd name="adj" fmla="val 5172"/>
            </a:avLst>
          </a:prstGeom>
          <a:solidFill>
            <a:srgbClr val="F4F6FA"/>
          </a:solidFill>
          <a:ln w="6350">
            <a:solidFill>
              <a:srgbClr val="E8ECF2"/>
            </a:solidFill>
            <a:prstDash val="solid"/>
          </a:ln>
        </p:spPr>
      </p:sp>
      <p:sp>
        <p:nvSpPr>
          <p:cNvPr id="14" name="Shape 12"/>
          <p:cNvSpPr/>
          <p:nvPr/>
        </p:nvSpPr>
        <p:spPr>
          <a:xfrm>
            <a:off x="365760" y="1755648"/>
            <a:ext cx="1097280" cy="530352"/>
          </a:xfrm>
          <a:prstGeom prst="rect">
            <a:avLst/>
          </a:prstGeom>
          <a:solidFill>
            <a:srgbClr val="003B7A"/>
          </a:solidFill>
          <a:ln w="12700">
            <a:solidFill>
              <a:srgbClr val="003B7A"/>
            </a:solidFill>
            <a:prstDash val="solid"/>
          </a:ln>
        </p:spPr>
      </p:sp>
      <p:sp>
        <p:nvSpPr>
          <p:cNvPr id="15" name="Text 13"/>
          <p:cNvSpPr/>
          <p:nvPr/>
        </p:nvSpPr>
        <p:spPr>
          <a:xfrm>
            <a:off x="365760" y="175564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493.6111</a:t>
            </a:r>
            <a:endParaRPr lang="en-US" sz="1000" dirty="0"/>
          </a:p>
        </p:txBody>
      </p:sp>
      <p:sp>
        <p:nvSpPr>
          <p:cNvPr id="16" name="Text 14"/>
          <p:cNvSpPr/>
          <p:nvPr/>
        </p:nvSpPr>
        <p:spPr>
          <a:xfrm>
            <a:off x="1536192" y="1828800"/>
            <a:ext cx="2743200" cy="347472"/>
          </a:xfrm>
          <a:prstGeom prst="rect">
            <a:avLst/>
          </a:prstGeom>
          <a:noFill/>
          <a:ln/>
        </p:spPr>
        <p:txBody>
          <a:bodyPr wrap="square" rtlCol="0" anchor="ctr"/>
          <a:lstStyle/>
          <a:p>
            <a:pPr indent="0" marL="0">
              <a:buNone/>
            </a:pPr>
            <a:r>
              <a:rPr lang="en-US" sz="1180" dirty="0">
                <a:solidFill>
                  <a:srgbClr val="1A202C"/>
                </a:solidFill>
              </a:rPr>
              <a:t>License / ID card requirements</a:t>
            </a:r>
            <a:endParaRPr lang="en-US" sz="1180" dirty="0"/>
          </a:p>
        </p:txBody>
      </p:sp>
      <p:sp>
        <p:nvSpPr>
          <p:cNvPr id="17" name="Shape 15"/>
          <p:cNvSpPr/>
          <p:nvPr/>
        </p:nvSpPr>
        <p:spPr>
          <a:xfrm>
            <a:off x="4663440" y="1755648"/>
            <a:ext cx="4069080" cy="530352"/>
          </a:xfrm>
          <a:prstGeom prst="roundRect">
            <a:avLst>
              <a:gd name="adj" fmla="val 5172"/>
            </a:avLst>
          </a:prstGeom>
          <a:solidFill>
            <a:srgbClr val="F4F6FA"/>
          </a:solidFill>
          <a:ln w="6350">
            <a:solidFill>
              <a:srgbClr val="E8ECF2"/>
            </a:solidFill>
            <a:prstDash val="solid"/>
          </a:ln>
        </p:spPr>
      </p:sp>
      <p:sp>
        <p:nvSpPr>
          <p:cNvPr id="18" name="Shape 16"/>
          <p:cNvSpPr/>
          <p:nvPr/>
        </p:nvSpPr>
        <p:spPr>
          <a:xfrm>
            <a:off x="4663440" y="1755648"/>
            <a:ext cx="1097280" cy="530352"/>
          </a:xfrm>
          <a:prstGeom prst="rect">
            <a:avLst/>
          </a:prstGeom>
          <a:solidFill>
            <a:srgbClr val="003B7A"/>
          </a:solidFill>
          <a:ln w="12700">
            <a:solidFill>
              <a:srgbClr val="003B7A"/>
            </a:solidFill>
            <a:prstDash val="solid"/>
          </a:ln>
        </p:spPr>
      </p:sp>
      <p:sp>
        <p:nvSpPr>
          <p:cNvPr id="19" name="Text 17"/>
          <p:cNvSpPr/>
          <p:nvPr/>
        </p:nvSpPr>
        <p:spPr>
          <a:xfrm>
            <a:off x="4663440" y="175564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493.6113</a:t>
            </a:r>
            <a:endParaRPr lang="en-US" sz="1000" dirty="0"/>
          </a:p>
        </p:txBody>
      </p:sp>
      <p:sp>
        <p:nvSpPr>
          <p:cNvPr id="20" name="Text 18"/>
          <p:cNvSpPr/>
          <p:nvPr/>
        </p:nvSpPr>
        <p:spPr>
          <a:xfrm>
            <a:off x="5833872" y="1828800"/>
            <a:ext cx="2743200" cy="347472"/>
          </a:xfrm>
          <a:prstGeom prst="rect">
            <a:avLst/>
          </a:prstGeom>
          <a:noFill/>
          <a:ln/>
        </p:spPr>
        <p:txBody>
          <a:bodyPr wrap="square" rtlCol="0" anchor="ctr"/>
          <a:lstStyle/>
          <a:p>
            <a:pPr indent="0" marL="0">
              <a:buNone/>
            </a:pPr>
            <a:r>
              <a:rPr lang="en-US" sz="1180" dirty="0">
                <a:solidFill>
                  <a:srgbClr val="1A202C"/>
                </a:solidFill>
              </a:rPr>
              <a:t>Renewal application</a:t>
            </a:r>
            <a:endParaRPr lang="en-US" sz="1180" dirty="0"/>
          </a:p>
        </p:txBody>
      </p:sp>
      <p:sp>
        <p:nvSpPr>
          <p:cNvPr id="21" name="Shape 19"/>
          <p:cNvSpPr/>
          <p:nvPr/>
        </p:nvSpPr>
        <p:spPr>
          <a:xfrm>
            <a:off x="365760" y="2395728"/>
            <a:ext cx="4069080" cy="530352"/>
          </a:xfrm>
          <a:prstGeom prst="roundRect">
            <a:avLst>
              <a:gd name="adj" fmla="val 5172"/>
            </a:avLst>
          </a:prstGeom>
          <a:solidFill>
            <a:srgbClr val="F4F6FA"/>
          </a:solidFill>
          <a:ln w="6350">
            <a:solidFill>
              <a:srgbClr val="E8ECF2"/>
            </a:solidFill>
            <a:prstDash val="solid"/>
          </a:ln>
        </p:spPr>
      </p:sp>
      <p:sp>
        <p:nvSpPr>
          <p:cNvPr id="22" name="Shape 20"/>
          <p:cNvSpPr/>
          <p:nvPr/>
        </p:nvSpPr>
        <p:spPr>
          <a:xfrm>
            <a:off x="365760" y="2395728"/>
            <a:ext cx="1097280" cy="530352"/>
          </a:xfrm>
          <a:prstGeom prst="rect">
            <a:avLst/>
          </a:prstGeom>
          <a:solidFill>
            <a:srgbClr val="B91C1C"/>
          </a:solidFill>
          <a:ln w="12700">
            <a:solidFill>
              <a:srgbClr val="B91C1C"/>
            </a:solidFill>
            <a:prstDash val="solid"/>
          </a:ln>
        </p:spPr>
      </p:sp>
      <p:sp>
        <p:nvSpPr>
          <p:cNvPr id="23" name="Text 21"/>
          <p:cNvSpPr/>
          <p:nvPr/>
        </p:nvSpPr>
        <p:spPr>
          <a:xfrm>
            <a:off x="365760" y="239572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493.6115</a:t>
            </a:r>
            <a:endParaRPr lang="en-US" sz="1000" dirty="0"/>
          </a:p>
        </p:txBody>
      </p:sp>
      <p:sp>
        <p:nvSpPr>
          <p:cNvPr id="24" name="Text 22"/>
          <p:cNvSpPr/>
          <p:nvPr/>
        </p:nvSpPr>
        <p:spPr>
          <a:xfrm>
            <a:off x="1536192" y="2468880"/>
            <a:ext cx="2743200" cy="347472"/>
          </a:xfrm>
          <a:prstGeom prst="rect">
            <a:avLst/>
          </a:prstGeom>
          <a:noFill/>
          <a:ln/>
        </p:spPr>
        <p:txBody>
          <a:bodyPr wrap="square" rtlCol="0" anchor="ctr"/>
          <a:lstStyle/>
          <a:p>
            <a:pPr indent="0" marL="0">
              <a:buNone/>
            </a:pPr>
            <a:r>
              <a:rPr lang="en-US" sz="1180" dirty="0">
                <a:solidFill>
                  <a:srgbClr val="1A202C"/>
                </a:solidFill>
              </a:rPr>
              <a:t>Weapons and firearms</a:t>
            </a:r>
            <a:endParaRPr lang="en-US" sz="1180" dirty="0"/>
          </a:p>
        </p:txBody>
      </p:sp>
      <p:sp>
        <p:nvSpPr>
          <p:cNvPr id="25" name="Shape 23"/>
          <p:cNvSpPr/>
          <p:nvPr/>
        </p:nvSpPr>
        <p:spPr>
          <a:xfrm>
            <a:off x="4663440" y="2395728"/>
            <a:ext cx="4069080" cy="530352"/>
          </a:xfrm>
          <a:prstGeom prst="roundRect">
            <a:avLst>
              <a:gd name="adj" fmla="val 5172"/>
            </a:avLst>
          </a:prstGeom>
          <a:solidFill>
            <a:srgbClr val="F4F6FA"/>
          </a:solidFill>
          <a:ln w="6350">
            <a:solidFill>
              <a:srgbClr val="E8ECF2"/>
            </a:solidFill>
            <a:prstDash val="solid"/>
          </a:ln>
        </p:spPr>
      </p:sp>
      <p:sp>
        <p:nvSpPr>
          <p:cNvPr id="26" name="Shape 24"/>
          <p:cNvSpPr/>
          <p:nvPr/>
        </p:nvSpPr>
        <p:spPr>
          <a:xfrm>
            <a:off x="4663440" y="2395728"/>
            <a:ext cx="1097280" cy="530352"/>
          </a:xfrm>
          <a:prstGeom prst="rect">
            <a:avLst/>
          </a:prstGeom>
          <a:solidFill>
            <a:srgbClr val="B91C1C"/>
          </a:solidFill>
          <a:ln w="12700">
            <a:solidFill>
              <a:srgbClr val="B91C1C"/>
            </a:solidFill>
            <a:prstDash val="solid"/>
          </a:ln>
        </p:spPr>
      </p:sp>
      <p:sp>
        <p:nvSpPr>
          <p:cNvPr id="27" name="Text 25"/>
          <p:cNvSpPr/>
          <p:nvPr/>
        </p:nvSpPr>
        <p:spPr>
          <a:xfrm>
            <a:off x="4663440" y="239572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493.6118</a:t>
            </a:r>
            <a:endParaRPr lang="en-US" sz="1000" dirty="0"/>
          </a:p>
        </p:txBody>
      </p:sp>
      <p:sp>
        <p:nvSpPr>
          <p:cNvPr id="28" name="Text 26"/>
          <p:cNvSpPr/>
          <p:nvPr/>
        </p:nvSpPr>
        <p:spPr>
          <a:xfrm>
            <a:off x="5833872" y="2468880"/>
            <a:ext cx="2743200" cy="347472"/>
          </a:xfrm>
          <a:prstGeom prst="rect">
            <a:avLst/>
          </a:prstGeom>
          <a:noFill/>
          <a:ln/>
        </p:spPr>
        <p:txBody>
          <a:bodyPr wrap="square" rtlCol="0" anchor="ctr"/>
          <a:lstStyle/>
          <a:p>
            <a:pPr indent="0" marL="0">
              <a:buNone/>
            </a:pPr>
            <a:r>
              <a:rPr lang="en-US" sz="1180" dirty="0">
                <a:solidFill>
                  <a:srgbClr val="1A202C"/>
                </a:solidFill>
              </a:rPr>
              <a:t>Grounds for discipline</a:t>
            </a:r>
            <a:endParaRPr lang="en-US" sz="1180" dirty="0"/>
          </a:p>
        </p:txBody>
      </p:sp>
      <p:sp>
        <p:nvSpPr>
          <p:cNvPr id="29" name="Shape 27"/>
          <p:cNvSpPr/>
          <p:nvPr/>
        </p:nvSpPr>
        <p:spPr>
          <a:xfrm>
            <a:off x="365760" y="3035808"/>
            <a:ext cx="4069080" cy="530352"/>
          </a:xfrm>
          <a:prstGeom prst="roundRect">
            <a:avLst>
              <a:gd name="adj" fmla="val 5172"/>
            </a:avLst>
          </a:prstGeom>
          <a:solidFill>
            <a:srgbClr val="F4F6FA"/>
          </a:solidFill>
          <a:ln w="6350">
            <a:solidFill>
              <a:srgbClr val="E8ECF2"/>
            </a:solidFill>
            <a:prstDash val="solid"/>
          </a:ln>
        </p:spPr>
      </p:sp>
      <p:sp>
        <p:nvSpPr>
          <p:cNvPr id="30" name="Shape 28"/>
          <p:cNvSpPr/>
          <p:nvPr/>
        </p:nvSpPr>
        <p:spPr>
          <a:xfrm>
            <a:off x="365760" y="3035808"/>
            <a:ext cx="1097280" cy="530352"/>
          </a:xfrm>
          <a:prstGeom prst="rect">
            <a:avLst/>
          </a:prstGeom>
          <a:solidFill>
            <a:srgbClr val="B45309"/>
          </a:solidFill>
          <a:ln w="12700">
            <a:solidFill>
              <a:srgbClr val="B45309"/>
            </a:solidFill>
            <a:prstDash val="solid"/>
          </a:ln>
        </p:spPr>
      </p:sp>
      <p:sp>
        <p:nvSpPr>
          <p:cNvPr id="31" name="Text 29"/>
          <p:cNvSpPr/>
          <p:nvPr/>
        </p:nvSpPr>
        <p:spPr>
          <a:xfrm>
            <a:off x="365760" y="303580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493.6120</a:t>
            </a:r>
            <a:endParaRPr lang="en-US" sz="1000" dirty="0"/>
          </a:p>
        </p:txBody>
      </p:sp>
      <p:sp>
        <p:nvSpPr>
          <p:cNvPr id="32" name="Text 30"/>
          <p:cNvSpPr/>
          <p:nvPr/>
        </p:nvSpPr>
        <p:spPr>
          <a:xfrm>
            <a:off x="1536192" y="3108960"/>
            <a:ext cx="2743200" cy="347472"/>
          </a:xfrm>
          <a:prstGeom prst="rect">
            <a:avLst/>
          </a:prstGeom>
          <a:noFill/>
          <a:ln/>
        </p:spPr>
        <p:txBody>
          <a:bodyPr wrap="square" rtlCol="0" anchor="ctr"/>
          <a:lstStyle/>
          <a:p>
            <a:pPr indent="0" marL="0">
              <a:buNone/>
            </a:pPr>
            <a:r>
              <a:rPr lang="en-US" sz="1180" dirty="0">
                <a:solidFill>
                  <a:srgbClr val="1A202C"/>
                </a:solidFill>
              </a:rPr>
              <a:t>Violations and penalties</a:t>
            </a:r>
            <a:endParaRPr lang="en-US" sz="1180" dirty="0"/>
          </a:p>
        </p:txBody>
      </p:sp>
      <p:sp>
        <p:nvSpPr>
          <p:cNvPr id="33" name="Shape 31"/>
          <p:cNvSpPr/>
          <p:nvPr/>
        </p:nvSpPr>
        <p:spPr>
          <a:xfrm>
            <a:off x="4663440" y="3035808"/>
            <a:ext cx="4069080" cy="530352"/>
          </a:xfrm>
          <a:prstGeom prst="roundRect">
            <a:avLst>
              <a:gd name="adj" fmla="val 5172"/>
            </a:avLst>
          </a:prstGeom>
          <a:solidFill>
            <a:srgbClr val="F4F6FA"/>
          </a:solidFill>
          <a:ln w="6350">
            <a:solidFill>
              <a:srgbClr val="E8ECF2"/>
            </a:solidFill>
            <a:prstDash val="solid"/>
          </a:ln>
        </p:spPr>
      </p:sp>
      <p:sp>
        <p:nvSpPr>
          <p:cNvPr id="34" name="Shape 32"/>
          <p:cNvSpPr/>
          <p:nvPr/>
        </p:nvSpPr>
        <p:spPr>
          <a:xfrm>
            <a:off x="4663440" y="3035808"/>
            <a:ext cx="1097280" cy="530352"/>
          </a:xfrm>
          <a:prstGeom prst="rect">
            <a:avLst/>
          </a:prstGeom>
          <a:solidFill>
            <a:srgbClr val="0055A5"/>
          </a:solidFill>
          <a:ln w="12700">
            <a:solidFill>
              <a:srgbClr val="0055A5"/>
            </a:solidFill>
            <a:prstDash val="solid"/>
          </a:ln>
        </p:spPr>
      </p:sp>
      <p:sp>
        <p:nvSpPr>
          <p:cNvPr id="35" name="Text 33"/>
          <p:cNvSpPr/>
          <p:nvPr/>
        </p:nvSpPr>
        <p:spPr>
          <a:xfrm>
            <a:off x="4663440" y="303580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776.012</a:t>
            </a:r>
            <a:endParaRPr lang="en-US" sz="1000" dirty="0"/>
          </a:p>
        </p:txBody>
      </p:sp>
      <p:sp>
        <p:nvSpPr>
          <p:cNvPr id="36" name="Text 34"/>
          <p:cNvSpPr/>
          <p:nvPr/>
        </p:nvSpPr>
        <p:spPr>
          <a:xfrm>
            <a:off x="5833872" y="3108960"/>
            <a:ext cx="2743200" cy="347472"/>
          </a:xfrm>
          <a:prstGeom prst="rect">
            <a:avLst/>
          </a:prstGeom>
          <a:noFill/>
          <a:ln/>
        </p:spPr>
        <p:txBody>
          <a:bodyPr wrap="square" rtlCol="0" anchor="ctr"/>
          <a:lstStyle/>
          <a:p>
            <a:pPr indent="0" marL="0">
              <a:buNone/>
            </a:pPr>
            <a:r>
              <a:rPr lang="en-US" sz="1180" dirty="0">
                <a:solidFill>
                  <a:srgbClr val="1A202C"/>
                </a:solidFill>
              </a:rPr>
              <a:t>Defense of person</a:t>
            </a:r>
            <a:endParaRPr lang="en-US" sz="1180" dirty="0"/>
          </a:p>
        </p:txBody>
      </p:sp>
      <p:sp>
        <p:nvSpPr>
          <p:cNvPr id="37" name="Shape 35"/>
          <p:cNvSpPr/>
          <p:nvPr/>
        </p:nvSpPr>
        <p:spPr>
          <a:xfrm>
            <a:off x="365760" y="3675888"/>
            <a:ext cx="4069080" cy="530352"/>
          </a:xfrm>
          <a:prstGeom prst="roundRect">
            <a:avLst>
              <a:gd name="adj" fmla="val 5172"/>
            </a:avLst>
          </a:prstGeom>
          <a:solidFill>
            <a:srgbClr val="F4F6FA"/>
          </a:solidFill>
          <a:ln w="6350">
            <a:solidFill>
              <a:srgbClr val="E8ECF2"/>
            </a:solidFill>
            <a:prstDash val="solid"/>
          </a:ln>
        </p:spPr>
      </p:sp>
      <p:sp>
        <p:nvSpPr>
          <p:cNvPr id="38" name="Shape 36"/>
          <p:cNvSpPr/>
          <p:nvPr/>
        </p:nvSpPr>
        <p:spPr>
          <a:xfrm>
            <a:off x="365760" y="3675888"/>
            <a:ext cx="1097280" cy="530352"/>
          </a:xfrm>
          <a:prstGeom prst="rect">
            <a:avLst/>
          </a:prstGeom>
          <a:solidFill>
            <a:srgbClr val="0055A5"/>
          </a:solidFill>
          <a:ln w="12700">
            <a:solidFill>
              <a:srgbClr val="0055A5"/>
            </a:solidFill>
            <a:prstDash val="solid"/>
          </a:ln>
        </p:spPr>
      </p:sp>
      <p:sp>
        <p:nvSpPr>
          <p:cNvPr id="39" name="Text 37"/>
          <p:cNvSpPr/>
          <p:nvPr/>
        </p:nvSpPr>
        <p:spPr>
          <a:xfrm>
            <a:off x="365760" y="367588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776.031</a:t>
            </a:r>
            <a:endParaRPr lang="en-US" sz="1000" dirty="0"/>
          </a:p>
        </p:txBody>
      </p:sp>
      <p:sp>
        <p:nvSpPr>
          <p:cNvPr id="40" name="Text 38"/>
          <p:cNvSpPr/>
          <p:nvPr/>
        </p:nvSpPr>
        <p:spPr>
          <a:xfrm>
            <a:off x="1536192" y="3749040"/>
            <a:ext cx="2743200" cy="347472"/>
          </a:xfrm>
          <a:prstGeom prst="rect">
            <a:avLst/>
          </a:prstGeom>
          <a:noFill/>
          <a:ln/>
        </p:spPr>
        <p:txBody>
          <a:bodyPr wrap="square" rtlCol="0" anchor="ctr"/>
          <a:lstStyle/>
          <a:p>
            <a:pPr indent="0" marL="0">
              <a:buNone/>
            </a:pPr>
            <a:r>
              <a:rPr lang="en-US" sz="1180" dirty="0">
                <a:solidFill>
                  <a:srgbClr val="1A202C"/>
                </a:solidFill>
              </a:rPr>
              <a:t>Defense of property</a:t>
            </a:r>
            <a:endParaRPr lang="en-US" sz="1180" dirty="0"/>
          </a:p>
        </p:txBody>
      </p:sp>
      <p:sp>
        <p:nvSpPr>
          <p:cNvPr id="41" name="Shape 39"/>
          <p:cNvSpPr/>
          <p:nvPr/>
        </p:nvSpPr>
        <p:spPr>
          <a:xfrm>
            <a:off x="4663440" y="3675888"/>
            <a:ext cx="4069080" cy="530352"/>
          </a:xfrm>
          <a:prstGeom prst="roundRect">
            <a:avLst>
              <a:gd name="adj" fmla="val 5172"/>
            </a:avLst>
          </a:prstGeom>
          <a:solidFill>
            <a:srgbClr val="F4F6FA"/>
          </a:solidFill>
          <a:ln w="6350">
            <a:solidFill>
              <a:srgbClr val="E8ECF2"/>
            </a:solidFill>
            <a:prstDash val="solid"/>
          </a:ln>
        </p:spPr>
      </p:sp>
      <p:sp>
        <p:nvSpPr>
          <p:cNvPr id="42" name="Shape 40"/>
          <p:cNvSpPr/>
          <p:nvPr/>
        </p:nvSpPr>
        <p:spPr>
          <a:xfrm>
            <a:off x="4663440" y="3675888"/>
            <a:ext cx="1097280" cy="530352"/>
          </a:xfrm>
          <a:prstGeom prst="rect">
            <a:avLst/>
          </a:prstGeom>
          <a:solidFill>
            <a:srgbClr val="0055A5"/>
          </a:solidFill>
          <a:ln w="12700">
            <a:solidFill>
              <a:srgbClr val="0055A5"/>
            </a:solidFill>
            <a:prstDash val="solid"/>
          </a:ln>
        </p:spPr>
      </p:sp>
      <p:sp>
        <p:nvSpPr>
          <p:cNvPr id="43" name="Text 41"/>
          <p:cNvSpPr/>
          <p:nvPr/>
        </p:nvSpPr>
        <p:spPr>
          <a:xfrm>
            <a:off x="4663440" y="367588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776.08</a:t>
            </a:r>
            <a:endParaRPr lang="en-US" sz="1000" dirty="0"/>
          </a:p>
        </p:txBody>
      </p:sp>
      <p:sp>
        <p:nvSpPr>
          <p:cNvPr id="44" name="Text 42"/>
          <p:cNvSpPr/>
          <p:nvPr/>
        </p:nvSpPr>
        <p:spPr>
          <a:xfrm>
            <a:off x="5833872" y="3749040"/>
            <a:ext cx="2743200" cy="347472"/>
          </a:xfrm>
          <a:prstGeom prst="rect">
            <a:avLst/>
          </a:prstGeom>
          <a:noFill/>
          <a:ln/>
        </p:spPr>
        <p:txBody>
          <a:bodyPr wrap="square" rtlCol="0" anchor="ctr"/>
          <a:lstStyle/>
          <a:p>
            <a:pPr indent="0" marL="0">
              <a:buNone/>
            </a:pPr>
            <a:r>
              <a:rPr lang="en-US" sz="1180" dirty="0">
                <a:solidFill>
                  <a:srgbClr val="1A202C"/>
                </a:solidFill>
              </a:rPr>
              <a:t>Forcible felony definition</a:t>
            </a:r>
            <a:endParaRPr lang="en-US" sz="1180" dirty="0"/>
          </a:p>
        </p:txBody>
      </p:sp>
      <p:sp>
        <p:nvSpPr>
          <p:cNvPr id="45" name="Shape 43"/>
          <p:cNvSpPr/>
          <p:nvPr/>
        </p:nvSpPr>
        <p:spPr>
          <a:xfrm>
            <a:off x="365760" y="4315968"/>
            <a:ext cx="4069080" cy="530352"/>
          </a:xfrm>
          <a:prstGeom prst="roundRect">
            <a:avLst>
              <a:gd name="adj" fmla="val 5172"/>
            </a:avLst>
          </a:prstGeom>
          <a:solidFill>
            <a:srgbClr val="F4F6FA"/>
          </a:solidFill>
          <a:ln w="6350">
            <a:solidFill>
              <a:srgbClr val="E8ECF2"/>
            </a:solidFill>
            <a:prstDash val="solid"/>
          </a:ln>
        </p:spPr>
      </p:sp>
      <p:sp>
        <p:nvSpPr>
          <p:cNvPr id="46" name="Shape 44"/>
          <p:cNvSpPr/>
          <p:nvPr/>
        </p:nvSpPr>
        <p:spPr>
          <a:xfrm>
            <a:off x="365760" y="4315968"/>
            <a:ext cx="1097280" cy="530352"/>
          </a:xfrm>
          <a:prstGeom prst="rect">
            <a:avLst/>
          </a:prstGeom>
          <a:solidFill>
            <a:srgbClr val="4A5568"/>
          </a:solidFill>
          <a:ln w="12700">
            <a:solidFill>
              <a:srgbClr val="4A5568"/>
            </a:solidFill>
            <a:prstDash val="solid"/>
          </a:ln>
        </p:spPr>
      </p:sp>
      <p:sp>
        <p:nvSpPr>
          <p:cNvPr id="47" name="Text 45"/>
          <p:cNvSpPr/>
          <p:nvPr/>
        </p:nvSpPr>
        <p:spPr>
          <a:xfrm>
            <a:off x="365760" y="431596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s. 812.015</a:t>
            </a:r>
            <a:endParaRPr lang="en-US" sz="1000" dirty="0"/>
          </a:p>
        </p:txBody>
      </p:sp>
      <p:sp>
        <p:nvSpPr>
          <p:cNvPr id="48" name="Text 46"/>
          <p:cNvSpPr/>
          <p:nvPr/>
        </p:nvSpPr>
        <p:spPr>
          <a:xfrm>
            <a:off x="1536192" y="4389120"/>
            <a:ext cx="2743200" cy="347472"/>
          </a:xfrm>
          <a:prstGeom prst="rect">
            <a:avLst/>
          </a:prstGeom>
          <a:noFill/>
          <a:ln/>
        </p:spPr>
        <p:txBody>
          <a:bodyPr wrap="square" rtlCol="0" anchor="ctr"/>
          <a:lstStyle/>
          <a:p>
            <a:pPr indent="0" marL="0">
              <a:buNone/>
            </a:pPr>
            <a:r>
              <a:rPr lang="en-US" sz="1180" dirty="0">
                <a:solidFill>
                  <a:srgbClr val="1A202C"/>
                </a:solidFill>
              </a:rPr>
              <a:t>Retail theft detention authority</a:t>
            </a:r>
            <a:endParaRPr lang="en-US" sz="1180" dirty="0"/>
          </a:p>
        </p:txBody>
      </p:sp>
      <p:sp>
        <p:nvSpPr>
          <p:cNvPr id="49" name="Shape 47"/>
          <p:cNvSpPr/>
          <p:nvPr/>
        </p:nvSpPr>
        <p:spPr>
          <a:xfrm>
            <a:off x="4663440" y="4315968"/>
            <a:ext cx="4069080" cy="530352"/>
          </a:xfrm>
          <a:prstGeom prst="roundRect">
            <a:avLst>
              <a:gd name="adj" fmla="val 5172"/>
            </a:avLst>
          </a:prstGeom>
          <a:solidFill>
            <a:srgbClr val="F4F6FA"/>
          </a:solidFill>
          <a:ln w="6350">
            <a:solidFill>
              <a:srgbClr val="E8ECF2"/>
            </a:solidFill>
            <a:prstDash val="solid"/>
          </a:ln>
        </p:spPr>
      </p:sp>
      <p:sp>
        <p:nvSpPr>
          <p:cNvPr id="50" name="Shape 48"/>
          <p:cNvSpPr/>
          <p:nvPr/>
        </p:nvSpPr>
        <p:spPr>
          <a:xfrm>
            <a:off x="4663440" y="4315968"/>
            <a:ext cx="1097280" cy="530352"/>
          </a:xfrm>
          <a:prstGeom prst="rect">
            <a:avLst/>
          </a:prstGeom>
          <a:solidFill>
            <a:srgbClr val="4A5568"/>
          </a:solidFill>
          <a:ln w="12700">
            <a:solidFill>
              <a:srgbClr val="4A5568"/>
            </a:solidFill>
            <a:prstDash val="solid"/>
          </a:ln>
        </p:spPr>
      </p:sp>
      <p:sp>
        <p:nvSpPr>
          <p:cNvPr id="51" name="Text 49"/>
          <p:cNvSpPr/>
          <p:nvPr/>
        </p:nvSpPr>
        <p:spPr>
          <a:xfrm>
            <a:off x="4663440" y="4315968"/>
            <a:ext cx="1097280" cy="530352"/>
          </a:xfrm>
          <a:prstGeom prst="rect">
            <a:avLst/>
          </a:prstGeom>
          <a:noFill/>
          <a:ln/>
        </p:spPr>
        <p:txBody>
          <a:bodyPr wrap="square" lIns="0" tIns="0" rIns="0" bIns="0" rtlCol="0" anchor="ctr"/>
          <a:lstStyle/>
          <a:p>
            <a:pPr algn="ctr" indent="0" marL="0">
              <a:buNone/>
            </a:pPr>
            <a:r>
              <a:rPr lang="en-US" sz="1000" b="1" dirty="0">
                <a:solidFill>
                  <a:srgbClr val="FFFFFF"/>
                </a:solidFill>
              </a:rPr>
              <a:t>5N-1.140</a:t>
            </a:r>
            <a:endParaRPr lang="en-US" sz="1000" dirty="0"/>
          </a:p>
        </p:txBody>
      </p:sp>
      <p:sp>
        <p:nvSpPr>
          <p:cNvPr id="52" name="Text 50"/>
          <p:cNvSpPr/>
          <p:nvPr/>
        </p:nvSpPr>
        <p:spPr>
          <a:xfrm>
            <a:off x="5833872" y="4389120"/>
            <a:ext cx="2743200" cy="347472"/>
          </a:xfrm>
          <a:prstGeom prst="rect">
            <a:avLst/>
          </a:prstGeom>
          <a:noFill/>
          <a:ln/>
        </p:spPr>
        <p:txBody>
          <a:bodyPr wrap="square" rtlCol="0" anchor="ctr"/>
          <a:lstStyle/>
          <a:p>
            <a:pPr indent="0" marL="0">
              <a:buNone/>
            </a:pPr>
            <a:r>
              <a:rPr lang="en-US" sz="1180" dirty="0">
                <a:solidFill>
                  <a:srgbClr val="1A202C"/>
                </a:solidFill>
              </a:rPr>
              <a:t>Training curriculum guide</a:t>
            </a:r>
            <a:endParaRPr lang="en-US" sz="1180" dirty="0"/>
          </a:p>
        </p:txBody>
      </p:sp>
      <p:sp>
        <p:nvSpPr>
          <p:cNvPr id="53" name="Shape 51"/>
          <p:cNvSpPr/>
          <p:nvPr/>
        </p:nvSpPr>
        <p:spPr>
          <a:xfrm>
            <a:off x="0" y="4919472"/>
            <a:ext cx="9144000" cy="224028"/>
          </a:xfrm>
          <a:prstGeom prst="rect">
            <a:avLst/>
          </a:prstGeom>
          <a:solidFill>
            <a:srgbClr val="E8ECF2"/>
          </a:solidFill>
          <a:ln w="12700">
            <a:solidFill>
              <a:srgbClr val="E8ECF2"/>
            </a:solidFill>
            <a:prstDash val="solid"/>
          </a:ln>
        </p:spPr>
      </p:sp>
      <p:sp>
        <p:nvSpPr>
          <p:cNvPr id="54" name="Text 52"/>
          <p:cNvSpPr/>
          <p:nvPr/>
        </p:nvSpPr>
        <p:spPr>
          <a:xfrm>
            <a:off x="365760" y="4928616"/>
            <a:ext cx="8412480" cy="201168"/>
          </a:xfrm>
          <a:prstGeom prst="rect">
            <a:avLst/>
          </a:prstGeom>
          <a:noFill/>
          <a:ln/>
        </p:spPr>
        <p:txBody>
          <a:bodyPr wrap="square" rtlCol="0" anchor="ctr"/>
          <a:lstStyle/>
          <a:p>
            <a:pPr algn="l" indent="0" marL="0">
              <a:buNone/>
            </a:pPr>
            <a:r>
              <a:rPr lang="en-US" sz="800" dirty="0">
                <a:solidFill>
                  <a:srgbClr val="4A5568"/>
                </a:solidFill>
              </a:rPr>
              <a:t>VAS Security Academy  |  Module 1: Legal Aspects  |  Chapter 493, F.S.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214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8A951"/>
          </a:solidFill>
          <a:ln w="12700">
            <a:solidFill>
              <a:srgbClr val="C8A951"/>
            </a:solidFill>
            <a:prstDash val="solid"/>
          </a:ln>
        </p:spPr>
      </p:sp>
      <p:sp>
        <p:nvSpPr>
          <p:cNvPr id="3" name="Text 1"/>
          <p:cNvSpPr/>
          <p:nvPr/>
        </p:nvSpPr>
        <p:spPr>
          <a:xfrm>
            <a:off x="365760" y="274320"/>
            <a:ext cx="8412480" cy="219456"/>
          </a:xfrm>
          <a:prstGeom prst="rect">
            <a:avLst/>
          </a:prstGeom>
          <a:noFill/>
          <a:ln/>
        </p:spPr>
        <p:txBody>
          <a:bodyPr wrap="square" rtlCol="0" anchor="ctr"/>
          <a:lstStyle/>
          <a:p>
            <a:pPr indent="0" marL="0">
              <a:buNone/>
            </a:pPr>
            <a:r>
              <a:rPr lang="en-US" sz="1100" b="1" spc="300" kern="0" dirty="0">
                <a:solidFill>
                  <a:srgbClr val="E8CC78"/>
                </a:solidFill>
              </a:rPr>
              <a:t>MODULE REVIEW</a:t>
            </a:r>
            <a:endParaRPr lang="en-US" sz="1100" dirty="0"/>
          </a:p>
        </p:txBody>
      </p:sp>
      <p:sp>
        <p:nvSpPr>
          <p:cNvPr id="4" name="Text 2"/>
          <p:cNvSpPr/>
          <p:nvPr/>
        </p:nvSpPr>
        <p:spPr>
          <a:xfrm>
            <a:off x="365760" y="585216"/>
            <a:ext cx="8229600" cy="566928"/>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Module 1 — Key Takeaways</a:t>
            </a:r>
            <a:endParaRPr lang="en-US" sz="2800" dirty="0"/>
          </a:p>
        </p:txBody>
      </p:sp>
      <p:sp>
        <p:nvSpPr>
          <p:cNvPr id="5" name="Shape 3"/>
          <p:cNvSpPr/>
          <p:nvPr/>
        </p:nvSpPr>
        <p:spPr>
          <a:xfrm>
            <a:off x="384048" y="1325880"/>
            <a:ext cx="365760" cy="365760"/>
          </a:xfrm>
          <a:prstGeom prst="ellipse">
            <a:avLst/>
          </a:prstGeom>
          <a:solidFill>
            <a:srgbClr val="C8A951"/>
          </a:solidFill>
          <a:ln w="12700">
            <a:solidFill>
              <a:srgbClr val="C8A951"/>
            </a:solidFill>
            <a:prstDash val="solid"/>
          </a:ln>
        </p:spPr>
      </p:sp>
      <p:sp>
        <p:nvSpPr>
          <p:cNvPr id="6" name="Text 4"/>
          <p:cNvSpPr/>
          <p:nvPr/>
        </p:nvSpPr>
        <p:spPr>
          <a:xfrm>
            <a:off x="384048" y="1325880"/>
            <a:ext cx="365760" cy="365760"/>
          </a:xfrm>
          <a:prstGeom prst="rect">
            <a:avLst/>
          </a:prstGeom>
          <a:noFill/>
          <a:ln/>
        </p:spPr>
        <p:txBody>
          <a:bodyPr wrap="square" lIns="0" tIns="0" rIns="0" bIns="0" rtlCol="0" anchor="ctr"/>
          <a:lstStyle/>
          <a:p>
            <a:pPr algn="ctr" indent="0" marL="0">
              <a:buNone/>
            </a:pPr>
            <a:r>
              <a:rPr lang="en-US" sz="1300" b="1" dirty="0">
                <a:solidFill>
                  <a:srgbClr val="002147"/>
                </a:solidFill>
              </a:rPr>
              <a:t>1</a:t>
            </a:r>
            <a:endParaRPr lang="en-US" sz="1300" dirty="0"/>
          </a:p>
        </p:txBody>
      </p:sp>
      <p:sp>
        <p:nvSpPr>
          <p:cNvPr id="7" name="Text 5"/>
          <p:cNvSpPr/>
          <p:nvPr/>
        </p:nvSpPr>
        <p:spPr>
          <a:xfrm>
            <a:off x="914400" y="1344168"/>
            <a:ext cx="7498080" cy="292608"/>
          </a:xfrm>
          <a:prstGeom prst="rect">
            <a:avLst/>
          </a:prstGeom>
          <a:noFill/>
          <a:ln/>
        </p:spPr>
        <p:txBody>
          <a:bodyPr wrap="square" rtlCol="0" anchor="ctr"/>
          <a:lstStyle/>
          <a:p>
            <a:pPr indent="0" marL="0">
              <a:buNone/>
            </a:pPr>
            <a:r>
              <a:rPr lang="en-US" sz="1320" dirty="0">
                <a:solidFill>
                  <a:srgbClr val="FFFFFF"/>
                </a:solidFill>
                <a:latin typeface="Calibri" pitchFamily="34" charset="0"/>
                <a:ea typeface="Calibri" pitchFamily="34" charset="-122"/>
                <a:cs typeface="Calibri" pitchFamily="34" charset="-120"/>
              </a:rPr>
              <a:t>Chapter 493 is the foundation for licensed private security activity in Florida.</a:t>
            </a:r>
            <a:endParaRPr lang="en-US" sz="1320" dirty="0"/>
          </a:p>
        </p:txBody>
      </p:sp>
      <p:sp>
        <p:nvSpPr>
          <p:cNvPr id="8" name="Shape 6"/>
          <p:cNvSpPr/>
          <p:nvPr/>
        </p:nvSpPr>
        <p:spPr>
          <a:xfrm>
            <a:off x="384048" y="1901952"/>
            <a:ext cx="365760" cy="365760"/>
          </a:xfrm>
          <a:prstGeom prst="ellipse">
            <a:avLst/>
          </a:prstGeom>
          <a:solidFill>
            <a:srgbClr val="C8A951"/>
          </a:solidFill>
          <a:ln w="12700">
            <a:solidFill>
              <a:srgbClr val="C8A951"/>
            </a:solidFill>
            <a:prstDash val="solid"/>
          </a:ln>
        </p:spPr>
      </p:sp>
      <p:sp>
        <p:nvSpPr>
          <p:cNvPr id="9" name="Text 7"/>
          <p:cNvSpPr/>
          <p:nvPr/>
        </p:nvSpPr>
        <p:spPr>
          <a:xfrm>
            <a:off x="384048" y="1901952"/>
            <a:ext cx="365760" cy="365760"/>
          </a:xfrm>
          <a:prstGeom prst="rect">
            <a:avLst/>
          </a:prstGeom>
          <a:noFill/>
          <a:ln/>
        </p:spPr>
        <p:txBody>
          <a:bodyPr wrap="square" lIns="0" tIns="0" rIns="0" bIns="0" rtlCol="0" anchor="ctr"/>
          <a:lstStyle/>
          <a:p>
            <a:pPr algn="ctr" indent="0" marL="0">
              <a:buNone/>
            </a:pPr>
            <a:r>
              <a:rPr lang="en-US" sz="1300" b="1" dirty="0">
                <a:solidFill>
                  <a:srgbClr val="002147"/>
                </a:solidFill>
              </a:rPr>
              <a:t>2</a:t>
            </a:r>
            <a:endParaRPr lang="en-US" sz="1300" dirty="0"/>
          </a:p>
        </p:txBody>
      </p:sp>
      <p:sp>
        <p:nvSpPr>
          <p:cNvPr id="10" name="Text 8"/>
          <p:cNvSpPr/>
          <p:nvPr/>
        </p:nvSpPr>
        <p:spPr>
          <a:xfrm>
            <a:off x="914400" y="1920240"/>
            <a:ext cx="7498080" cy="292608"/>
          </a:xfrm>
          <a:prstGeom prst="rect">
            <a:avLst/>
          </a:prstGeom>
          <a:noFill/>
          <a:ln/>
        </p:spPr>
        <p:txBody>
          <a:bodyPr wrap="square" rtlCol="0" anchor="ctr"/>
          <a:lstStyle/>
          <a:p>
            <a:pPr indent="0" marL="0">
              <a:buNone/>
            </a:pPr>
            <a:r>
              <a:rPr lang="en-US" sz="1320" dirty="0">
                <a:solidFill>
                  <a:srgbClr val="FFFFFF"/>
                </a:solidFill>
                <a:latin typeface="Calibri" pitchFamily="34" charset="0"/>
                <a:ea typeface="Calibri" pitchFamily="34" charset="-122"/>
                <a:cs typeface="Calibri" pitchFamily="34" charset="-120"/>
              </a:rPr>
              <a:t>Carry your valid license and agency ID while on duty and stay inside your license scope.</a:t>
            </a:r>
            <a:endParaRPr lang="en-US" sz="1320" dirty="0"/>
          </a:p>
        </p:txBody>
      </p:sp>
      <p:sp>
        <p:nvSpPr>
          <p:cNvPr id="11" name="Shape 9"/>
          <p:cNvSpPr/>
          <p:nvPr/>
        </p:nvSpPr>
        <p:spPr>
          <a:xfrm>
            <a:off x="384048" y="2478024"/>
            <a:ext cx="365760" cy="365760"/>
          </a:xfrm>
          <a:prstGeom prst="ellipse">
            <a:avLst/>
          </a:prstGeom>
          <a:solidFill>
            <a:srgbClr val="C8A951"/>
          </a:solidFill>
          <a:ln w="12700">
            <a:solidFill>
              <a:srgbClr val="C8A951"/>
            </a:solidFill>
            <a:prstDash val="solid"/>
          </a:ln>
        </p:spPr>
      </p:sp>
      <p:sp>
        <p:nvSpPr>
          <p:cNvPr id="12" name="Text 10"/>
          <p:cNvSpPr/>
          <p:nvPr/>
        </p:nvSpPr>
        <p:spPr>
          <a:xfrm>
            <a:off x="384048" y="2478024"/>
            <a:ext cx="365760" cy="365760"/>
          </a:xfrm>
          <a:prstGeom prst="rect">
            <a:avLst/>
          </a:prstGeom>
          <a:noFill/>
          <a:ln/>
        </p:spPr>
        <p:txBody>
          <a:bodyPr wrap="square" lIns="0" tIns="0" rIns="0" bIns="0" rtlCol="0" anchor="ctr"/>
          <a:lstStyle/>
          <a:p>
            <a:pPr algn="ctr" indent="0" marL="0">
              <a:buNone/>
            </a:pPr>
            <a:r>
              <a:rPr lang="en-US" sz="1300" b="1" dirty="0">
                <a:solidFill>
                  <a:srgbClr val="002147"/>
                </a:solidFill>
              </a:rPr>
              <a:t>3</a:t>
            </a:r>
            <a:endParaRPr lang="en-US" sz="1300" dirty="0"/>
          </a:p>
        </p:txBody>
      </p:sp>
      <p:sp>
        <p:nvSpPr>
          <p:cNvPr id="13" name="Text 11"/>
          <p:cNvSpPr/>
          <p:nvPr/>
        </p:nvSpPr>
        <p:spPr>
          <a:xfrm>
            <a:off x="914400" y="2496312"/>
            <a:ext cx="7498080" cy="292608"/>
          </a:xfrm>
          <a:prstGeom prst="rect">
            <a:avLst/>
          </a:prstGeom>
          <a:noFill/>
          <a:ln/>
        </p:spPr>
        <p:txBody>
          <a:bodyPr wrap="square" rtlCol="0" anchor="ctr"/>
          <a:lstStyle/>
          <a:p>
            <a:pPr indent="0" marL="0">
              <a:buNone/>
            </a:pPr>
            <a:r>
              <a:rPr lang="en-US" sz="1320" dirty="0">
                <a:solidFill>
                  <a:srgbClr val="FFFFFF"/>
                </a:solidFill>
                <a:latin typeface="Calibri" pitchFamily="34" charset="0"/>
                <a:ea typeface="Calibri" pitchFamily="34" charset="-122"/>
                <a:cs typeface="Calibri" pitchFamily="34" charset="-120"/>
              </a:rPr>
              <a:t>Security officers have citizen-level force authority, not police powers.</a:t>
            </a:r>
            <a:endParaRPr lang="en-US" sz="1320" dirty="0"/>
          </a:p>
        </p:txBody>
      </p:sp>
      <p:sp>
        <p:nvSpPr>
          <p:cNvPr id="14" name="Shape 12"/>
          <p:cNvSpPr/>
          <p:nvPr/>
        </p:nvSpPr>
        <p:spPr>
          <a:xfrm>
            <a:off x="384048" y="3054096"/>
            <a:ext cx="365760" cy="365760"/>
          </a:xfrm>
          <a:prstGeom prst="ellipse">
            <a:avLst/>
          </a:prstGeom>
          <a:solidFill>
            <a:srgbClr val="C8A951"/>
          </a:solidFill>
          <a:ln w="12700">
            <a:solidFill>
              <a:srgbClr val="C8A951"/>
            </a:solidFill>
            <a:prstDash val="solid"/>
          </a:ln>
        </p:spPr>
      </p:sp>
      <p:sp>
        <p:nvSpPr>
          <p:cNvPr id="15" name="Text 13"/>
          <p:cNvSpPr/>
          <p:nvPr/>
        </p:nvSpPr>
        <p:spPr>
          <a:xfrm>
            <a:off x="384048" y="3054096"/>
            <a:ext cx="365760" cy="365760"/>
          </a:xfrm>
          <a:prstGeom prst="rect">
            <a:avLst/>
          </a:prstGeom>
          <a:noFill/>
          <a:ln/>
        </p:spPr>
        <p:txBody>
          <a:bodyPr wrap="square" lIns="0" tIns="0" rIns="0" bIns="0" rtlCol="0" anchor="ctr"/>
          <a:lstStyle/>
          <a:p>
            <a:pPr algn="ctr" indent="0" marL="0">
              <a:buNone/>
            </a:pPr>
            <a:r>
              <a:rPr lang="en-US" sz="1300" b="1" dirty="0">
                <a:solidFill>
                  <a:srgbClr val="002147"/>
                </a:solidFill>
              </a:rPr>
              <a:t>4</a:t>
            </a:r>
            <a:endParaRPr lang="en-US" sz="1300" dirty="0"/>
          </a:p>
        </p:txBody>
      </p:sp>
      <p:sp>
        <p:nvSpPr>
          <p:cNvPr id="16" name="Text 14"/>
          <p:cNvSpPr/>
          <p:nvPr/>
        </p:nvSpPr>
        <p:spPr>
          <a:xfrm>
            <a:off x="914400" y="3072384"/>
            <a:ext cx="7498080" cy="292608"/>
          </a:xfrm>
          <a:prstGeom prst="rect">
            <a:avLst/>
          </a:prstGeom>
          <a:noFill/>
          <a:ln/>
        </p:spPr>
        <p:txBody>
          <a:bodyPr wrap="square" rtlCol="0" anchor="ctr"/>
          <a:lstStyle/>
          <a:p>
            <a:pPr indent="0" marL="0">
              <a:buNone/>
            </a:pPr>
            <a:r>
              <a:rPr lang="en-US" sz="1320" dirty="0">
                <a:solidFill>
                  <a:srgbClr val="FFFFFF"/>
                </a:solidFill>
                <a:latin typeface="Calibri" pitchFamily="34" charset="0"/>
                <a:ea typeface="Calibri" pitchFamily="34" charset="-122"/>
                <a:cs typeface="Calibri" pitchFamily="34" charset="-120"/>
              </a:rPr>
              <a:t>Deadly force is tied to imminent danger, not punishment or retaliation.</a:t>
            </a:r>
            <a:endParaRPr lang="en-US" sz="1320" dirty="0"/>
          </a:p>
        </p:txBody>
      </p:sp>
      <p:sp>
        <p:nvSpPr>
          <p:cNvPr id="17" name="Shape 15"/>
          <p:cNvSpPr/>
          <p:nvPr/>
        </p:nvSpPr>
        <p:spPr>
          <a:xfrm>
            <a:off x="384048" y="3630168"/>
            <a:ext cx="365760" cy="365760"/>
          </a:xfrm>
          <a:prstGeom prst="ellipse">
            <a:avLst/>
          </a:prstGeom>
          <a:solidFill>
            <a:srgbClr val="C8A951"/>
          </a:solidFill>
          <a:ln w="12700">
            <a:solidFill>
              <a:srgbClr val="C8A951"/>
            </a:solidFill>
            <a:prstDash val="solid"/>
          </a:ln>
        </p:spPr>
      </p:sp>
      <p:sp>
        <p:nvSpPr>
          <p:cNvPr id="18" name="Text 16"/>
          <p:cNvSpPr/>
          <p:nvPr/>
        </p:nvSpPr>
        <p:spPr>
          <a:xfrm>
            <a:off x="384048" y="3630168"/>
            <a:ext cx="365760" cy="365760"/>
          </a:xfrm>
          <a:prstGeom prst="rect">
            <a:avLst/>
          </a:prstGeom>
          <a:noFill/>
          <a:ln/>
        </p:spPr>
        <p:txBody>
          <a:bodyPr wrap="square" lIns="0" tIns="0" rIns="0" bIns="0" rtlCol="0" anchor="ctr"/>
          <a:lstStyle/>
          <a:p>
            <a:pPr algn="ctr" indent="0" marL="0">
              <a:buNone/>
            </a:pPr>
            <a:r>
              <a:rPr lang="en-US" sz="1300" b="1" dirty="0">
                <a:solidFill>
                  <a:srgbClr val="002147"/>
                </a:solidFill>
              </a:rPr>
              <a:t>5</a:t>
            </a:r>
            <a:endParaRPr lang="en-US" sz="1300" dirty="0"/>
          </a:p>
        </p:txBody>
      </p:sp>
      <p:sp>
        <p:nvSpPr>
          <p:cNvPr id="19" name="Text 17"/>
          <p:cNvSpPr/>
          <p:nvPr/>
        </p:nvSpPr>
        <p:spPr>
          <a:xfrm>
            <a:off x="914400" y="3648456"/>
            <a:ext cx="7498080" cy="292608"/>
          </a:xfrm>
          <a:prstGeom prst="rect">
            <a:avLst/>
          </a:prstGeom>
          <a:noFill/>
          <a:ln/>
        </p:spPr>
        <p:txBody>
          <a:bodyPr wrap="square" rtlCol="0" anchor="ctr"/>
          <a:lstStyle/>
          <a:p>
            <a:pPr indent="0" marL="0">
              <a:buNone/>
            </a:pPr>
            <a:r>
              <a:rPr lang="en-US" sz="1320" dirty="0">
                <a:solidFill>
                  <a:srgbClr val="FFFFFF"/>
                </a:solidFill>
                <a:latin typeface="Calibri" pitchFamily="34" charset="0"/>
                <a:ea typeface="Calibri" pitchFamily="34" charset="-122"/>
                <a:cs typeface="Calibri" pitchFamily="34" charset="-120"/>
              </a:rPr>
              <a:t>Scene control, documentation, and evidence preservation protect both investigations and your credibility.</a:t>
            </a:r>
            <a:endParaRPr lang="en-US" sz="1320" dirty="0"/>
          </a:p>
        </p:txBody>
      </p:sp>
      <p:sp>
        <p:nvSpPr>
          <p:cNvPr id="20" name="Shape 18"/>
          <p:cNvSpPr/>
          <p:nvPr/>
        </p:nvSpPr>
        <p:spPr>
          <a:xfrm>
            <a:off x="384048" y="4206240"/>
            <a:ext cx="365760" cy="365760"/>
          </a:xfrm>
          <a:prstGeom prst="ellipse">
            <a:avLst/>
          </a:prstGeom>
          <a:solidFill>
            <a:srgbClr val="C8A951"/>
          </a:solidFill>
          <a:ln w="12700">
            <a:solidFill>
              <a:srgbClr val="C8A951"/>
            </a:solidFill>
            <a:prstDash val="solid"/>
          </a:ln>
        </p:spPr>
      </p:sp>
      <p:sp>
        <p:nvSpPr>
          <p:cNvPr id="21" name="Text 19"/>
          <p:cNvSpPr/>
          <p:nvPr/>
        </p:nvSpPr>
        <p:spPr>
          <a:xfrm>
            <a:off x="384048" y="4206240"/>
            <a:ext cx="365760" cy="365760"/>
          </a:xfrm>
          <a:prstGeom prst="rect">
            <a:avLst/>
          </a:prstGeom>
          <a:noFill/>
          <a:ln/>
        </p:spPr>
        <p:txBody>
          <a:bodyPr wrap="square" lIns="0" tIns="0" rIns="0" bIns="0" rtlCol="0" anchor="ctr"/>
          <a:lstStyle/>
          <a:p>
            <a:pPr algn="ctr" indent="0" marL="0">
              <a:buNone/>
            </a:pPr>
            <a:r>
              <a:rPr lang="en-US" sz="1300" b="1" dirty="0">
                <a:solidFill>
                  <a:srgbClr val="002147"/>
                </a:solidFill>
              </a:rPr>
              <a:t>6</a:t>
            </a:r>
            <a:endParaRPr lang="en-US" sz="1300" dirty="0"/>
          </a:p>
        </p:txBody>
      </p:sp>
      <p:sp>
        <p:nvSpPr>
          <p:cNvPr id="22" name="Text 20"/>
          <p:cNvSpPr/>
          <p:nvPr/>
        </p:nvSpPr>
        <p:spPr>
          <a:xfrm>
            <a:off x="914400" y="4224528"/>
            <a:ext cx="7498080" cy="292608"/>
          </a:xfrm>
          <a:prstGeom prst="rect">
            <a:avLst/>
          </a:prstGeom>
          <a:noFill/>
          <a:ln/>
        </p:spPr>
        <p:txBody>
          <a:bodyPr wrap="square" rtlCol="0" anchor="ctr"/>
          <a:lstStyle/>
          <a:p>
            <a:pPr indent="0" marL="0">
              <a:buNone/>
            </a:pPr>
            <a:r>
              <a:rPr lang="en-US" sz="1320" dirty="0">
                <a:solidFill>
                  <a:srgbClr val="FFFFFF"/>
                </a:solidFill>
                <a:latin typeface="Calibri" pitchFamily="34" charset="0"/>
                <a:ea typeface="Calibri" pitchFamily="34" charset="-122"/>
                <a:cs typeface="Calibri" pitchFamily="34" charset="-120"/>
              </a:rPr>
              <a:t>Professional testimony depends on truthful, calm, well-prepared communication.</a:t>
            </a:r>
            <a:endParaRPr lang="en-US" sz="1320" dirty="0"/>
          </a:p>
        </p:txBody>
      </p:sp>
      <p:sp>
        <p:nvSpPr>
          <p:cNvPr id="23" name="Text 21"/>
          <p:cNvSpPr/>
          <p:nvPr/>
        </p:nvSpPr>
        <p:spPr>
          <a:xfrm>
            <a:off x="365760" y="4791456"/>
            <a:ext cx="8321040" cy="201168"/>
          </a:xfrm>
          <a:prstGeom prst="rect">
            <a:avLst/>
          </a:prstGeom>
          <a:noFill/>
          <a:ln/>
        </p:spPr>
        <p:txBody>
          <a:bodyPr wrap="square" rtlCol="0" anchor="ctr"/>
          <a:lstStyle/>
          <a:p>
            <a:pPr algn="ctr" indent="0" marL="0">
              <a:buNone/>
            </a:pPr>
            <a:r>
              <a:rPr lang="en-US" sz="850" dirty="0">
                <a:solidFill>
                  <a:srgbClr val="AAB7D0"/>
                </a:solidFill>
              </a:rPr>
              <a:t>VAS Security Academy  |  Class D Security Officer Training  |  FDACS-P-01878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2147"/>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8A951"/>
          </a:solidFill>
          <a:ln w="12700">
            <a:solidFill>
              <a:srgbClr val="C8A951"/>
            </a:solidFill>
            <a:prstDash val="solid"/>
          </a:ln>
        </p:spPr>
      </p:sp>
      <p:sp>
        <p:nvSpPr>
          <p:cNvPr id="3" name="Text 1"/>
          <p:cNvSpPr/>
          <p:nvPr/>
        </p:nvSpPr>
        <p:spPr>
          <a:xfrm>
            <a:off x="384048" y="384048"/>
            <a:ext cx="8229600" cy="219456"/>
          </a:xfrm>
          <a:prstGeom prst="rect">
            <a:avLst/>
          </a:prstGeom>
          <a:noFill/>
          <a:ln/>
        </p:spPr>
        <p:txBody>
          <a:bodyPr wrap="square" rtlCol="0" anchor="ctr"/>
          <a:lstStyle/>
          <a:p>
            <a:pPr indent="0" marL="0">
              <a:buNone/>
            </a:pPr>
            <a:r>
              <a:rPr lang="en-US" sz="1300" b="1" spc="300" kern="0" dirty="0">
                <a:solidFill>
                  <a:srgbClr val="E8CC78"/>
                </a:solidFill>
              </a:rPr>
              <a:t>END OF MODULE 1</a:t>
            </a:r>
            <a:endParaRPr lang="en-US" sz="1300" dirty="0"/>
          </a:p>
        </p:txBody>
      </p:sp>
      <p:sp>
        <p:nvSpPr>
          <p:cNvPr id="4" name="Text 2"/>
          <p:cNvSpPr/>
          <p:nvPr/>
        </p:nvSpPr>
        <p:spPr>
          <a:xfrm>
            <a:off x="384048" y="804672"/>
            <a:ext cx="7863840" cy="11887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Legal Aspects of</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Private Security</a:t>
            </a:r>
            <a:endParaRPr lang="en-US" sz="3600" dirty="0"/>
          </a:p>
        </p:txBody>
      </p:sp>
      <p:sp>
        <p:nvSpPr>
          <p:cNvPr id="5" name="Shape 3"/>
          <p:cNvSpPr/>
          <p:nvPr/>
        </p:nvSpPr>
        <p:spPr>
          <a:xfrm>
            <a:off x="411480" y="2834640"/>
            <a:ext cx="4480560" cy="1234440"/>
          </a:xfrm>
          <a:prstGeom prst="roundRect">
            <a:avLst>
              <a:gd name="adj" fmla="val 2963"/>
            </a:avLst>
          </a:prstGeom>
          <a:solidFill>
            <a:srgbClr val="003B7A"/>
          </a:solidFill>
          <a:ln w="9525">
            <a:solidFill>
              <a:srgbClr val="C8A951"/>
            </a:solidFill>
            <a:prstDash val="solid"/>
          </a:ln>
        </p:spPr>
      </p:sp>
      <p:sp>
        <p:nvSpPr>
          <p:cNvPr id="6" name="Text 4"/>
          <p:cNvSpPr/>
          <p:nvPr/>
        </p:nvSpPr>
        <p:spPr>
          <a:xfrm>
            <a:off x="621792" y="3054096"/>
            <a:ext cx="4069080" cy="822960"/>
          </a:xfrm>
          <a:prstGeom prst="rect">
            <a:avLst/>
          </a:prstGeom>
          <a:noFill/>
          <a:ln/>
        </p:spPr>
        <p:txBody>
          <a:bodyPr wrap="square" rtlCol="0" anchor="t"/>
          <a:lstStyle/>
          <a:p>
            <a:pPr indent="0" marL="0">
              <a:buNone/>
            </a:pPr>
            <a:r>
              <a:rPr lang="en-US" sz="1200" b="1" dirty="0">
                <a:solidFill>
                  <a:srgbClr val="C8A951"/>
                </a:solidFill>
                <a:latin typeface="Calibri" pitchFamily="34" charset="0"/>
                <a:ea typeface="Calibri" pitchFamily="34" charset="-122"/>
                <a:cs typeface="Calibri" pitchFamily="34" charset="-120"/>
              </a:rPr>
              <a:t>Written Exam Reminder
</a:t>
            </a:r>
            <a:endParaRPr lang="en-US" sz="1200" dirty="0"/>
          </a:p>
          <a:p>
            <a:pPr indent="0" marL="0">
              <a:buNone/>
            </a:pPr>
            <a:r>
              <a:rPr lang="en-US" sz="1300" dirty="0">
                <a:solidFill>
                  <a:srgbClr val="FFFFFF"/>
                </a:solidFill>
                <a:latin typeface="Calibri" pitchFamily="34" charset="0"/>
                <a:ea typeface="Calibri" pitchFamily="34" charset="-122"/>
                <a:cs typeface="Calibri" pitchFamily="34" charset="-120"/>
              </a:rPr>
              <a:t>26 questions from Module 1
</a:t>
            </a:r>
            <a:endParaRPr lang="en-US" sz="1200" dirty="0"/>
          </a:p>
          <a:p>
            <a:pPr indent="0" marL="0">
              <a:buNone/>
            </a:pPr>
            <a:r>
              <a:rPr lang="en-US" sz="1300" dirty="0">
                <a:solidFill>
                  <a:srgbClr val="FFFFFF"/>
                </a:solidFill>
                <a:latin typeface="Calibri" pitchFamily="34" charset="0"/>
                <a:ea typeface="Calibri" pitchFamily="34" charset="-122"/>
                <a:cs typeface="Calibri" pitchFamily="34" charset="-120"/>
              </a:rPr>
              <a:t>Minimum 75% to pass
</a:t>
            </a:r>
            <a:endParaRPr lang="en-US" sz="1200" dirty="0"/>
          </a:p>
          <a:p>
            <a:pPr indent="0" marL="0">
              <a:buNone/>
            </a:pPr>
            <a:r>
              <a:rPr lang="en-US" sz="1300" dirty="0">
                <a:solidFill>
                  <a:srgbClr val="FFFFFF"/>
                </a:solidFill>
                <a:latin typeface="Calibri" pitchFamily="34" charset="0"/>
                <a:ea typeface="Calibri" pitchFamily="34" charset="-122"/>
                <a:cs typeface="Calibri" pitchFamily="34" charset="-120"/>
              </a:rPr>
              <a:t>Review statutes, force rules, and discipline triggers</a:t>
            </a:r>
            <a:endParaRPr lang="en-US" sz="1200" dirty="0"/>
          </a:p>
        </p:txBody>
      </p:sp>
      <p:pic>
        <p:nvPicPr>
          <p:cNvPr id="7" name="Image 0" descr="preencoded.png">    </p:cNvPr>
          <p:cNvPicPr>
            <a:picLocks noChangeAspect="1"/>
          </p:cNvPicPr>
          <p:nvPr/>
        </p:nvPicPr>
        <p:blipFill>
          <a:blip r:embed="rId1"/>
          <a:stretch>
            <a:fillRect/>
          </a:stretch>
        </p:blipFill>
        <p:spPr>
          <a:xfrm>
            <a:off x="7242048" y="2468880"/>
            <a:ext cx="1051560" cy="1051560"/>
          </a:xfrm>
          <a:prstGeom prst="rect">
            <a:avLst/>
          </a:prstGeom>
        </p:spPr>
      </p:pic>
      <p:sp>
        <p:nvSpPr>
          <p:cNvPr id="8" name="Text 5"/>
          <p:cNvSpPr/>
          <p:nvPr/>
        </p:nvSpPr>
        <p:spPr>
          <a:xfrm>
            <a:off x="384048" y="4791456"/>
            <a:ext cx="8229600" cy="219456"/>
          </a:xfrm>
          <a:prstGeom prst="rect">
            <a:avLst/>
          </a:prstGeom>
          <a:noFill/>
          <a:ln/>
        </p:spPr>
        <p:txBody>
          <a:bodyPr wrap="square" rtlCol="0" anchor="ctr"/>
          <a:lstStyle/>
          <a:p>
            <a:pPr algn="ctr" indent="0" marL="0">
              <a:buNone/>
            </a:pPr>
            <a:r>
              <a:rPr lang="en-US" sz="850" dirty="0">
                <a:solidFill>
                  <a:srgbClr val="AAB7D0"/>
                </a:solidFill>
              </a:rPr>
              <a:t>VAS Security Academy  |  Class D Security Officer Training  |  FDACS-P-01878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VAS Security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Legal Aspects of Private Security</dc:title>
  <dc:subject>Class D Security Officer Training</dc:subject>
  <dc:creator>OpenAI Codex</dc:creator>
  <cp:lastModifiedBy>OpenAI Codex</cp:lastModifiedBy>
  <cp:revision>1</cp:revision>
  <dcterms:created xsi:type="dcterms:W3CDTF">2026-04-27T00:50:48Z</dcterms:created>
  <dcterms:modified xsi:type="dcterms:W3CDTF">2026-04-27T00:50:48Z</dcterms:modified>
</cp:coreProperties>
</file>